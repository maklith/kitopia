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01c8d4c71249a3" /><Relationship Type="http://schemas.openxmlformats.org/officeDocument/2006/relationships/extended-properties" Target="/docProps/app.xml" Id="Re9b5188b5dcb4230" /><Relationship Type="http://schemas.openxmlformats.org/officeDocument/2006/relationships/officeDocument" Target="/ppt/presentation.xml" Id="R7e085b7cf8e74d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7a22f459494f95"/>
  </p:sldMasterIdLst>
  <p:notesMasterIdLst>
    <p:notesMasterId xmlns:r="http://schemas.openxmlformats.org/officeDocument/2006/relationships" r:id="R073f073865784b1b"/>
  </p:notesMasterIdLst>
  <p:sldIdLst>
    <p:sldId xmlns:r="http://schemas.openxmlformats.org/officeDocument/2006/relationships" id="256" r:id="R8643fe86911c440f"/>
    <p:sldId xmlns:r="http://schemas.openxmlformats.org/officeDocument/2006/relationships" id="257" r:id="R50e2ed9bf143404c"/>
    <p:sldId xmlns:r="http://schemas.openxmlformats.org/officeDocument/2006/relationships" id="258" r:id="R77de40bd4d004c55"/>
    <p:sldId xmlns:r="http://schemas.openxmlformats.org/officeDocument/2006/relationships" id="259" r:id="Re9845d2934694955"/>
    <p:sldId xmlns:r="http://schemas.openxmlformats.org/officeDocument/2006/relationships" id="260" r:id="R4e6851a6d824428b"/>
    <p:sldId xmlns:r="http://schemas.openxmlformats.org/officeDocument/2006/relationships" id="261" r:id="Ref925590a78242be"/>
    <p:sldId xmlns:r="http://schemas.openxmlformats.org/officeDocument/2006/relationships" id="262" r:id="Rf43e7592d706457f"/>
    <p:sldId xmlns:r="http://schemas.openxmlformats.org/officeDocument/2006/relationships" id="263" r:id="Rdede35443a7f4efb"/>
    <p:sldId xmlns:r="http://schemas.openxmlformats.org/officeDocument/2006/relationships" id="264" r:id="Rf53c132064cd488f"/>
    <p:sldId xmlns:r="http://schemas.openxmlformats.org/officeDocument/2006/relationships" id="265" r:id="R78d80c5225d043f4"/>
    <p:sldId xmlns:r="http://schemas.openxmlformats.org/officeDocument/2006/relationships" id="266" r:id="R5daf38b91fc64b42"/>
    <p:sldId xmlns:r="http://schemas.openxmlformats.org/officeDocument/2006/relationships" id="267" r:id="R9bd918e188674695"/>
    <p:sldId xmlns:r="http://schemas.openxmlformats.org/officeDocument/2006/relationships" id="268" r:id="R254b41136951423d"/>
    <p:sldId xmlns:r="http://schemas.openxmlformats.org/officeDocument/2006/relationships" id="269" r:id="Rf846db90d9184de1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16125bf4fa4fc4" /><Relationship Type="http://schemas.openxmlformats.org/officeDocument/2006/relationships/slideMaster" Target="/ppt/slideMasters/slideMaster1.xml" Id="Re07a22f459494f95" /><Relationship Type="http://schemas.openxmlformats.org/officeDocument/2006/relationships/notesMaster" Target="/ppt/notesMasters/notesMaster1.xml" Id="R073f073865784b1b" /><Relationship Type="http://schemas.openxmlformats.org/officeDocument/2006/relationships/presProps" Target="/ppt/presProps.xml" Id="R54c44a4ec59c47e0" /><Relationship Type="http://schemas.openxmlformats.org/officeDocument/2006/relationships/viewProps" Target="/ppt/viewProps.xml" Id="R9f5a1158a0754c8e" /><Relationship Type="http://schemas.openxmlformats.org/officeDocument/2006/relationships/tableStyles" Target="/ppt/tableStyles.xml" Id="Ref573a900c874d4e" /><Relationship Type="http://schemas.openxmlformats.org/officeDocument/2006/relationships/slide" Target="/ppt/slides/slide1.xml" Id="R8643fe86911c440f" /><Relationship Type="http://schemas.openxmlformats.org/officeDocument/2006/relationships/slide" Target="/ppt/slides/slide2.xml" Id="R50e2ed9bf143404c" /><Relationship Type="http://schemas.openxmlformats.org/officeDocument/2006/relationships/slide" Target="/ppt/slides/slide3.xml" Id="R77de40bd4d004c55" /><Relationship Type="http://schemas.openxmlformats.org/officeDocument/2006/relationships/slide" Target="/ppt/slides/slide4.xml" Id="Re9845d2934694955" /><Relationship Type="http://schemas.openxmlformats.org/officeDocument/2006/relationships/slide" Target="/ppt/slides/slide5.xml" Id="R4e6851a6d824428b" /><Relationship Type="http://schemas.openxmlformats.org/officeDocument/2006/relationships/slide" Target="/ppt/slides/slide6.xml" Id="Ref925590a78242be" /><Relationship Type="http://schemas.openxmlformats.org/officeDocument/2006/relationships/slide" Target="/ppt/slides/slide7.xml" Id="Rf43e7592d706457f" /><Relationship Type="http://schemas.openxmlformats.org/officeDocument/2006/relationships/slide" Target="/ppt/slides/slide8.xml" Id="Rdede35443a7f4efb" /><Relationship Type="http://schemas.openxmlformats.org/officeDocument/2006/relationships/slide" Target="/ppt/slides/slide9.xml" Id="Rf53c132064cd488f" /><Relationship Type="http://schemas.openxmlformats.org/officeDocument/2006/relationships/slide" Target="/ppt/slides/slide10.xml" Id="R78d80c5225d043f4" /><Relationship Type="http://schemas.openxmlformats.org/officeDocument/2006/relationships/slide" Target="/ppt/slides/slide11.xml" Id="R5daf38b91fc64b42" /><Relationship Type="http://schemas.openxmlformats.org/officeDocument/2006/relationships/slide" Target="/ppt/slides/slide12.xml" Id="R9bd918e188674695" /><Relationship Type="http://schemas.openxmlformats.org/officeDocument/2006/relationships/slide" Target="/ppt/slides/slide13.xml" Id="R254b41136951423d" /><Relationship Type="http://schemas.openxmlformats.org/officeDocument/2006/relationships/slide" Target="/ppt/slides/slide14.xml" Id="Rf846db90d9184d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3d3e4ddb0147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845d7ba56c4b26" /><Relationship Type="http://schemas.openxmlformats.org/officeDocument/2006/relationships/notesMaster" Target="/ppt/notesMasters/notesMaster1.xml" Id="R01d3d87ce0f54a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4ddb383be745df" /><Relationship Type="http://schemas.openxmlformats.org/officeDocument/2006/relationships/notesMaster" Target="/ppt/notesMasters/notesMaster1.xml" Id="Rb34a34df4e1e4b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08bb6defd04204" /><Relationship Type="http://schemas.openxmlformats.org/officeDocument/2006/relationships/notesMaster" Target="/ppt/notesMasters/notesMaster1.xml" Id="R1d8d853996b04e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296aace47044d3" /><Relationship Type="http://schemas.openxmlformats.org/officeDocument/2006/relationships/notesMaster" Target="/ppt/notesMasters/notesMaster1.xml" Id="Rd5a9a459f1114e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6c70b1d8b14073" /><Relationship Type="http://schemas.openxmlformats.org/officeDocument/2006/relationships/notesMaster" Target="/ppt/notesMasters/notesMaster1.xml" Id="Re8fe3356936a4f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e0fcf361754603" /><Relationship Type="http://schemas.openxmlformats.org/officeDocument/2006/relationships/notesMaster" Target="/ppt/notesMasters/notesMaster1.xml" Id="Re8db5f9bc1d64e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380fabfaa34228" /><Relationship Type="http://schemas.openxmlformats.org/officeDocument/2006/relationships/notesMaster" Target="/ppt/notesMasters/notesMaster1.xml" Id="Rf7d7734cbce648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ebc183f6364596" /><Relationship Type="http://schemas.openxmlformats.org/officeDocument/2006/relationships/notesMaster" Target="/ppt/notesMasters/notesMaster1.xml" Id="Rb058f6fdf3784c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f1618a61e2426d" /><Relationship Type="http://schemas.openxmlformats.org/officeDocument/2006/relationships/notesMaster" Target="/ppt/notesMasters/notesMaster1.xml" Id="Rc1fcac6acb0f40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838e5cfb4346f0" /><Relationship Type="http://schemas.openxmlformats.org/officeDocument/2006/relationships/notesMaster" Target="/ppt/notesMasters/notesMaster1.xml" Id="R1f35ede1100442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438d6281684d6e" /><Relationship Type="http://schemas.openxmlformats.org/officeDocument/2006/relationships/notesMaster" Target="/ppt/notesMasters/notesMaster1.xml" Id="R859d5ca75dac4d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d78080245440e8" /><Relationship Type="http://schemas.openxmlformats.org/officeDocument/2006/relationships/notesMaster" Target="/ppt/notesMasters/notesMaster1.xml" Id="Re9c9721d979a4ff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924b1740344270" /><Relationship Type="http://schemas.openxmlformats.org/officeDocument/2006/relationships/notesMaster" Target="/ppt/notesMasters/notesMaster1.xml" Id="R786840f80d2b45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de4f4bbf09b4ada" /><Relationship Type="http://schemas.openxmlformats.org/officeDocument/2006/relationships/notesMaster" Target="/ppt/notesMasters/notesMaster1.xml" Id="R4288930937aa4e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Preview image source: Misaka Mikoto, A Certain Scientific Railgun T official character page. https://toaru-project.com/railgun_t/chara/mikoto.html</a:t>
            </a:r>
          </a:p>
          <a:p xmlns:a="http://schemas.openxmlformats.org/drawingml/2006/main">
            <a:r>
              <a:t>Image: https://toaru-project.com/railgun_t/core_sys/images/contents/00000008/block/00000001/00000242.jpg</a:t>
            </a:r>
          </a:p>
          <a:p xmlns:a="http://schemas.openxmlformats.org/drawingml/2006/main">
            <a:r>
              <a:t>Product screenshots: docs/tools/render. Image material: https://toaru-project.com/railgun_t/chara/mikoto.html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Product screenshots: docs/tools/render. Image material: https://toaru-project.com/railgun_t/chara/mikoto.html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Preview image source: Misaka Mikoto, A Certain Scientific Railgun T official character page. https://toaru-project.com/railgun_t/chara/mikoto.html</a:t>
            </a:r>
          </a:p>
          <a:p xmlns:a="http://schemas.openxmlformats.org/drawingml/2006/main">
            <a:r>
              <a:t>Image: https://toaru-project.com/railgun_t/core_sys/images/contents/00000008/block/00000001/00000242.jpg</a:t>
            </a:r>
          </a:p>
          <a:p xmlns:a="http://schemas.openxmlformats.org/drawingml/2006/main">
            <a:r>
              <a:t>Product screenshots: docs/tools/render. Image material: https://toaru-project.com/railgun_t/chara/mikoto.html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Product screenshots: docs/tools/render. Image material: https://toaru-project.com/railgun_t/chara/mikoto.html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Product screenshots: docs/tools/render. Image material: https://toaru-project.com/railgun_t/chara/mikoto.html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Product screenshots: docs/tools/render. Image material: https://toaru-project.com/railgun_t/chara/mikoto.html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Product screenshots: docs/tools/render. Image material: https://toaru-project.com/railgun_t/chara/mikoto.html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Product screenshots: docs/tools/render. Image material: https://toaru-project.com/railgun_t/chara/mikoto.html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source: plugins/KitopiaEx/BatchRename/BatchRenameViewModel.cs and BatchRenameWindow.axaml. Screenshots rendered by docs/tools/render using Avalonia Headless and Skia. Compression creates renamed image copies and preserves original images. Other files are renamed or moved.</a:t>
            </a:r>
            <a:endParaRPr/>
          </a:p>
          <a:p xmlns:a="http://schemas.openxmlformats.org/drawingml/2006/main">
            <a:r>
              <a:t>Product screenshots: docs/tools/render. Image material: https://toaru-project.com/railgun_t/chara/mikoto.html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 screenshots: docs/tools/render. Image material: https://toaru-project.com/railgun_t/chara/mikoto.html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 screenshots: docs/tools/render. Image material: https://toaru-project.com/railgun_t/chara/mikoto.html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da1253cba6471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927178beca4fff" /><Relationship Type="http://schemas.openxmlformats.org/officeDocument/2006/relationships/slideLayout" Target="/ppt/slideLayouts/slideLayout1.xml" Id="R14fcc383556c40b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fcc383556c40b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b2a4cc45c4179" /><Relationship Type="http://schemas.openxmlformats.org/officeDocument/2006/relationships/image" Target="/ppt/media/image.png" Id="R27595157c37348b4" /><Relationship Type="http://schemas.openxmlformats.org/officeDocument/2006/relationships/image" Target="/ppt/media/image2.png" Id="Rf249a20e34d24677" /><Relationship Type="http://schemas.openxmlformats.org/officeDocument/2006/relationships/notesSlide" Target="/ppt/notesSlides/notesSlide1.xml" Id="Re1ab68283d084e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3f03e2dbb467e" /><Relationship Type="http://schemas.openxmlformats.org/officeDocument/2006/relationships/image" Target="/ppt/media/image3.png" Id="R85565aa5765b4764" /><Relationship Type="http://schemas.openxmlformats.org/officeDocument/2006/relationships/notesSlide" Target="/ppt/notesSlides/notesSlide2.xml" Id="R50ade53a29ef41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3ba377f6c47b8" /><Relationship Type="http://schemas.openxmlformats.org/officeDocument/2006/relationships/image" Target="/ppt/media/image4.png" Id="Rc9a554607a5843f6" /><Relationship Type="http://schemas.openxmlformats.org/officeDocument/2006/relationships/image" Target="/ppt/media/image2.png" Id="Ra3c58ac6228a4fc7" /><Relationship Type="http://schemas.openxmlformats.org/officeDocument/2006/relationships/notesSlide" Target="/ppt/notesSlides/notesSlide3.xml" Id="R31407cd632494b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d0c8827de4a86" /><Relationship Type="http://schemas.openxmlformats.org/officeDocument/2006/relationships/image" Target="/ppt/media/image5.png" Id="R37ba238d84094fba" /><Relationship Type="http://schemas.openxmlformats.org/officeDocument/2006/relationships/notesSlide" Target="/ppt/notesSlides/notesSlide4.xml" Id="R0c053c63db544e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86dd0b45a41e2" /><Relationship Type="http://schemas.openxmlformats.org/officeDocument/2006/relationships/image" Target="/ppt/media/image6.png" Id="R28a218fdc761424f" /><Relationship Type="http://schemas.openxmlformats.org/officeDocument/2006/relationships/notesSlide" Target="/ppt/notesSlides/notesSlide5.xml" Id="R2aa173e284164f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e8b4e4f5e43a8" /><Relationship Type="http://schemas.openxmlformats.org/officeDocument/2006/relationships/image" Target="/ppt/media/image7.png" Id="R8235daa200e14495" /><Relationship Type="http://schemas.openxmlformats.org/officeDocument/2006/relationships/image" Target="/ppt/media/image8.png" Id="Rd7ef42b419024f11" /><Relationship Type="http://schemas.openxmlformats.org/officeDocument/2006/relationships/notesSlide" Target="/ppt/notesSlides/notesSlide6.xml" Id="Re3aa1898701845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9b0eeebc44d43" /><Relationship Type="http://schemas.openxmlformats.org/officeDocument/2006/relationships/image" Target="/ppt/media/image9.png" Id="R71f6cf9d376c4a17" /><Relationship Type="http://schemas.openxmlformats.org/officeDocument/2006/relationships/image" Target="/ppt/media/image10.png" Id="Rb09cda4c0cae4cd5" /><Relationship Type="http://schemas.openxmlformats.org/officeDocument/2006/relationships/notesSlide" Target="/ppt/notesSlides/notesSlide7.xml" Id="R01d49a62a8be41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82e79fb1b487f" /><Relationship Type="http://schemas.openxmlformats.org/officeDocument/2006/relationships/image" Target="/ppt/media/image11.png" Id="Rf26244eef9984632" /><Relationship Type="http://schemas.openxmlformats.org/officeDocument/2006/relationships/notesSlide" Target="/ppt/notesSlides/notesSlide8.xml" Id="R46d90774eb1342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c72ee859a436e" /><Relationship Type="http://schemas.openxmlformats.org/officeDocument/2006/relationships/image" Target="/ppt/media/image12.png" Id="Rd881a30792184315" /><Relationship Type="http://schemas.openxmlformats.org/officeDocument/2006/relationships/notesSlide" Target="/ppt/notesSlides/notesSlide9.xml" Id="Raaa0ae37e3b34f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04a6e0ab248aa" /><Relationship Type="http://schemas.openxmlformats.org/officeDocument/2006/relationships/image" Target="/ppt/media/image13.png" Id="Rc6d2902e36b043a3" /><Relationship Type="http://schemas.openxmlformats.org/officeDocument/2006/relationships/notesSlide" Target="/ppt/notesSlides/notesSlide10.xml" Id="R6b3e58870ea041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a2741a34444e0" /><Relationship Type="http://schemas.openxmlformats.org/officeDocument/2006/relationships/image" Target="/ppt/media/image14.png" Id="Ra0d6e600cc8146ab" /><Relationship Type="http://schemas.openxmlformats.org/officeDocument/2006/relationships/image" Target="/ppt/media/image4.png" Id="R41ab031501104e47" /><Relationship Type="http://schemas.openxmlformats.org/officeDocument/2006/relationships/notesSlide" Target="/ppt/notesSlides/notesSlide11.xml" Id="R4b8df4db69c44f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7c9e9cdd74fb2" /><Relationship Type="http://schemas.openxmlformats.org/officeDocument/2006/relationships/notesSlide" Target="/ppt/notesSlides/notesSlide12.xml" Id="R688bb6a5845841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3fe7227e744d1" /><Relationship Type="http://schemas.openxmlformats.org/officeDocument/2006/relationships/notesSlide" Target="/ppt/notesSlides/notesSlide13.xml" Id="R24e7725718f345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680d1f9d54b8a" /><Relationship Type="http://schemas.openxmlformats.org/officeDocument/2006/relationships/notesSlide" Target="/ppt/notesSlides/notesSlide14.xml" Id="R91db51f86d6b4f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C68EA94-9D0B-47EE-8D46-A87CC7BB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4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34FFEC6-C929-4567-A851-CFB35289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2ADFFE-B3E5-4152-ABE7-5136F8EF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88720"/>
            <a:ext cx="6400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300">
                <a:solidFill>
                  <a:srgbClr val="0064FA"/>
                </a:solidFill>
                <a:latin typeface="Microsoft YaHei"/>
                <a:ea typeface="Microsoft YaHei"/>
                <a:cs typeface="Microsoft YaHei"/>
              </a:rPr>
              <a:t>OPEN SOURCE · FREE · PLUGINS · NODES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658A0D0-4AD6-415B-AEA8-25801659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64008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6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Kitopia</a:t>
            </a:r>
            <a:endParaRPr sz="6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EC07111-3429-4E29-9ED5-DCC4ECB3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80360"/>
            <a:ext cx="6400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属于你的新一代桌面全能效率神器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FF878C6-C0BC-4A32-B64F-A1200A7F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20440"/>
            <a:ext cx="6400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开源 · 自由 · 插件化 · 节点化的桌面效率工具集合</a:t>
            </a:r>
            <a:endParaRPr sz="1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BFE1A5E-0586-4751-B620-1F277E9E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43400"/>
            <a:ext cx="2377440" cy="502920"/>
          </a:xfrm>
          <a:prstGeom xmlns:a="http://schemas.openxmlformats.org/drawingml/2006/main" prst="roundRect">
            <a:avLst>
              <a:gd name="adj" fmla="val 49091"/>
            </a:avLst>
          </a:prstGeom>
          <a:solidFill xmlns:a="http://schemas.openxmlformats.org/drawingml/2006/main">
            <a:srgbClr val="0064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B15C077-0AEA-4458-9346-12CF5C09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43400"/>
            <a:ext cx="2377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1.0.0 正式版已发布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890536F-3AA3-4E55-AB6D-DF193AC6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343400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github.com/Maklith/Kitopia</a:t>
            </a:r>
            <a:endParaRPr sz="1300"/>
          </a:p>
        </p:txBody>
      </p:sp>
      <p:pic>
        <p:nvPicPr>
          <p:cNvPr id="900" name="Kitopia screenshot preview">
            <a:extLst xmlns:a="http://schemas.openxmlformats.org/drawingml/2006/main">
              <a:ext uri="{FF2B5EF4-FFF2-40B4-BE49-F238E27FC236}">
                <a16:creationId xmlns:a16="http://schemas.microsoft.com/office/drawing/2014/main" id="{6B4D0497-0600-4A6F-B195-7E5BF67F0A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95157c37348b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95796" y="1143000"/>
            <a:ext cx="3433769" cy="2479944"/>
          </a:xfrm>
          <a:prstGeom xmlns:a="http://schemas.openxmlformats.org/drawingml/2006/main" prst="roundRect">
            <a:avLst>
              <a:gd name="adj" fmla="val 3000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14000"/>
              </a:srgbClr>
            </a:outerShdw>
          </a:effectLst>
        </p:spPr>
      </p:pic>
      <p:pic>
        <p:nvPicPr>
          <p:cNvPr id="901" name="Kitopia screenshot search">
            <a:extLst xmlns:a="http://schemas.openxmlformats.org/drawingml/2006/main">
              <a:ext uri="{FF2B5EF4-FFF2-40B4-BE49-F238E27FC236}">
                <a16:creationId xmlns:a16="http://schemas.microsoft.com/office/drawing/2014/main" id="{8632699B-8EBC-4C53-AF9E-7060045325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9a20e34d2467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949440" y="3098808"/>
            <a:ext cx="3931920" cy="2183035"/>
          </a:xfrm>
          <a:prstGeom xmlns:a="http://schemas.openxmlformats.org/drawingml/2006/main" prst="roundRect">
            <a:avLst>
              <a:gd name="adj" fmla="val 4305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14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44119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7A1D82D-23EA-4A2A-A5CC-4E1ECAE4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5B5C87-87B6-4544-AB66-68A68CB5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AD02BF9-28BF-44B1-966B-27D25B17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WHY KITOPIA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519A660-3686-42DC-8670-E039C6FC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不止是工具箱，而是可高度自定义的生产力平台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311427-4EC4-42FF-A028-440E36DD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02  /  Kitopia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21FE9A1-97D7-4A05-A80A-ADEA5C05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515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像搭积木一样，自由组合来自不同插件的原子功能，创造完全符合你需求的自动化工作流。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5FCE847-6DCA-4BE8-A21C-FB6F0281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103120"/>
            <a:ext cx="3977640" cy="786384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6754BA3-0A95-428F-B4A9-68CCEA7F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212848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7C04059-E77C-4417-A8D5-E7924799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212848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FE3BDE1-6980-43BC-8BAB-0AB91EA9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176272"/>
            <a:ext cx="2971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开源免费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A69C086-8744-477D-9D09-26AC1D4F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5146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代码透明，本地功能完全免费，社区共建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ED900E9-9310-42B6-BA54-CBE66812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990088"/>
            <a:ext cx="3977640" cy="786384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E03450F-ECF7-4FFB-8E8A-B87D11BB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099816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8A5C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6336925-45EB-4873-A60F-4C5406B2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09981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插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8B9CE4F-AC15-414C-B3BD-5B5D83AB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063240"/>
            <a:ext cx="2971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高度插件化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F69CCE7-3785-4042-BA56-4C0CF76C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401568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模块化、按需加载，SDK 扩展</a:t>
            </a:r>
            <a:endParaRPr sz="11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60DF5EF-F401-4010-9D10-B33FE1BE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877056"/>
            <a:ext cx="3977640" cy="786384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19E3DD4-2F18-4579-9115-29B302FD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986784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E8A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982F6D2-68DD-4BD5-B5BB-B53BF49C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986784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节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2B33B92-6498-4ECE-A5DE-C1E6A7DC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950208"/>
            <a:ext cx="2971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节点化编程</a:t>
            </a:r>
            <a:endParaRPr sz="15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0E5B180-F910-4233-B311-1B30BF15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288536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可视化连线，定制你的专属「情景」</a:t>
            </a:r>
            <a:endParaRPr sz="11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D8C15C0-172D-4F02-AC61-2A579D02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764024"/>
            <a:ext cx="3977640" cy="786384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A5E30B6-A7A9-4908-A5E0-C1C15CB2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873752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9480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9A2D42D-2FB3-493F-9A50-222B2334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873752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</a:t>
            </a:r>
            <a:endParaRPr sz="16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EAD5863-0047-4E65-8B49-9D1C5DED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37176"/>
            <a:ext cx="2971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跨平台架构</a:t>
            </a:r>
            <a:endParaRPr sz="15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624180B-37D4-4D45-A254-8469F0DE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17550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基于 Avalonia，优先支持 Windows</a:t>
            </a:r>
            <a:endParaRPr sz="1100"/>
          </a:p>
        </p:txBody>
      </p:sp>
      <p:pic>
        <p:nvPicPr>
          <p:cNvPr id="900" name="Kitopia screenshot overview">
            <a:extLst xmlns:a="http://schemas.openxmlformats.org/drawingml/2006/main">
              <a:ext uri="{FF2B5EF4-FFF2-40B4-BE49-F238E27FC236}">
                <a16:creationId xmlns:a16="http://schemas.microsoft.com/office/drawing/2014/main" id="{DD198F93-CCFF-4732-BC96-478DE209E7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65aa5765b476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8548" y="2103120"/>
            <a:ext cx="6478183" cy="3455031"/>
          </a:xfrm>
          <a:prstGeom xmlns:a="http://schemas.openxmlformats.org/drawingml/2006/main" prst="roundRect">
            <a:avLst>
              <a:gd name="adj" fmla="val 3000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03503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166D939-809F-4B51-A723-D5C0D33E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7CE1D-33F3-4E33-9F61-5F56B057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068A4E1-96B2-4BB4-B61E-CAFB079B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LAUNCHER · Alt + Space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468F649-CAF1-4D4F-8240-3396F83C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全能搜索框：不仅是启动器，更是你的系统控制台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31E9F1C-2DA6-40AC-B568-C1EA80E0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03  /  Kitopia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2533133-825C-43E0-B811-A91998BA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5623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29CC175-E6BA-4785-A57C-86B435FE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8308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快速启动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B32BF45-2CA7-4A7B-A6C9-74D9D321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4884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常规软件、UWP 应用、文件/文件夹，支持管理员运行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F566EB6-ABCA-49EF-9C17-B4AB0820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2491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33A325D-258E-4152-83F8-BCA6AFF4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5176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Everything 集成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78143FE-94F8-4F6B-B2D8-4B435DBA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1752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毫秒级搜索全盘文件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0A26C6F-D07F-4105-9324-8A5DA5AC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9359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5A0CBD-7FD3-49FC-90BA-8F1A1D20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剪贴板智能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B23B7C2-8A89-4202-88A7-1A727D0D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8620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自动识别剪贴板中的路径等内容，一键打开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0032F00-4726-47A9-8EC0-F0344635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6227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9D807B9-4DC8-470C-B1C9-9A918529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8912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网页与命令</a:t>
            </a:r>
            <a:endParaRPr sz="1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55C1950-819E-4F5A-B553-57E37F1D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5488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直达网页、搜索引擎，或直接运行 Shell 命令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E2F893C-030F-4262-B686-4CE0F891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3095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8F40B06-8D25-416D-848C-DAF40330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实用小工具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3E9DAA7-F443-4123-92D4-950BAE1B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2356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数学计算、剪贴板图片保存、翻译等</a:t>
            </a:r>
            <a:endParaRPr sz="1250"/>
          </a:p>
        </p:txBody>
      </p:sp>
      <p:pic>
        <p:nvPicPr>
          <p:cNvPr id="900" name="Kitopia screenshot searchpdf">
            <a:extLst xmlns:a="http://schemas.openxmlformats.org/drawingml/2006/main">
              <a:ext uri="{FF2B5EF4-FFF2-40B4-BE49-F238E27FC236}">
                <a16:creationId xmlns:a16="http://schemas.microsoft.com/office/drawing/2014/main" id="{0C11AFA7-D4DB-49D8-B699-2F3EA5B464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554607a5843f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86600" y="1325880"/>
            <a:ext cx="4480560" cy="3584448"/>
          </a:xfrm>
          <a:prstGeom xmlns:a="http://schemas.openxmlformats.org/drawingml/2006/main" prst="roundRect">
            <a:avLst>
              <a:gd name="adj" fmla="val 3000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  <p:pic>
        <p:nvPicPr>
          <p:cNvPr id="901" name="Kitopia screenshot search">
            <a:extLst xmlns:a="http://schemas.openxmlformats.org/drawingml/2006/main">
              <a:ext uri="{FF2B5EF4-FFF2-40B4-BE49-F238E27FC236}">
                <a16:creationId xmlns:a16="http://schemas.microsoft.com/office/drawing/2014/main" id="{98A1AFC7-C7DA-4C8D-8F23-BC78DC8DDC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58ac6228a4fc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43600" y="3749040"/>
            <a:ext cx="4206240" cy="2333412"/>
          </a:xfrm>
          <a:prstGeom xmlns:a="http://schemas.openxmlformats.org/drawingml/2006/main" prst="roundRect">
            <a:avLst>
              <a:gd name="adj" fmla="val 4305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14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3180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1012BE-6E2F-4837-ADF1-231EBB4F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02FC436-2AA1-47A9-9791-03C12CCC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20D1EB8-8888-4EC8-86ED-186E19B7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SCREENSHOT · Ctrl + Alt + Q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CDE23AF-21F5-4411-AA6D-05CF5142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极致截图：支持 HDR 与长截图的专业级工具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3BC9A5C-E015-4293-9541-1EFF5FC2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04  /  Kitopia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78F9826-F140-4E1C-B2AB-AAB422FF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2331720" cy="123444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20823E5-FFCD-4CC2-A62E-4AECCE2C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12264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DF77B4D-5CCB-4CE3-B257-9327C91B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12264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D94A7B0-88EF-424A-9741-0BCE27FF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984248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HDR 支持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21F9D70-6F68-46DD-9921-EE8461F3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50008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完美还原高动态范围画面，色彩不失真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5F150F6-E3E4-4B98-893F-67A72517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1783080"/>
            <a:ext cx="2331720" cy="123444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F42935-B316-4DF6-B1D0-6C55B54A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112264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3C0B7D3-49B2-4514-ABA5-445FA372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112264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BE071F2-0352-4EEF-9538-9BDB6A19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1984248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长截图</a:t>
            </a:r>
            <a:endParaRPr sz="1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57E0063-627A-4EE1-A15A-4B91C585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350008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支持窗口滚动截取</a:t>
            </a:r>
            <a:endParaRPr sz="11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08437DA-9AA0-4765-BEDD-1CCE7438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2331720" cy="123444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42D0B82-AAA7-47FB-9277-AD497160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83864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8A5C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17DFDD5-1A83-41B3-9559-060C6A05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83864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9EF6142-C93D-4E81-B694-2F215D5C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355848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丰富标注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413EC91-EA4E-4F08-9E36-5031F2E1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721608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矩形、圆形、箭头、画笔、文字、马赛克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23BF1CB-ABCD-4710-A5C0-B0BCCD6E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154680"/>
            <a:ext cx="2331720" cy="123444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B9D3171-5CB8-4237-983A-2974801B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483864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8A5C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1DE1C6C-CB27-4DE8-BD6F-F7445548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483864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</a:t>
            </a:r>
            <a:endParaRPr sz="16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860241E-02B0-4235-8D26-2043E128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3355848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OCR 识别</a:t>
            </a:r>
            <a:endParaRPr sz="16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6009329-3B7C-4EC1-B8B0-ECBA32C4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3721608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截图即提取文字</a:t>
            </a:r>
            <a:endParaRPr sz="11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4A3B220-30C5-41D1-84C0-BB11675E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26280"/>
            <a:ext cx="2331720" cy="123444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55E49CA7-6185-42D2-8A19-6DFB6BA4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55464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E8A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C5210EB-889E-42BE-AE92-8DC4A950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55464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码</a:t>
            </a:r>
            <a:endParaRPr sz="16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E095864-5F62-496C-8598-2A514252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727448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二维码识别</a:t>
            </a:r>
            <a:endParaRPr sz="16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C1EF2C8-7867-481B-B9A1-19558DB7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093208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自动识别图中二维码</a:t>
            </a:r>
            <a:endParaRPr sz="11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A13B3E01-A04D-4A0A-AF8E-855926BB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526280"/>
            <a:ext cx="2331720" cy="123444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64CF1AC4-A012-4481-9CC5-2D920667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55464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E8A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5BF2CA2-1BF9-4FFC-9C43-B1812916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55464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译</a:t>
            </a:r>
            <a:endParaRPr sz="16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ABDB967C-686C-4FC1-83EB-D63DD961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4727448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截图翻译</a:t>
            </a:r>
            <a:endParaRPr sz="16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C808423-1898-4E68-93D0-ED1E3A28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5093208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翻译截图中的文本</a:t>
            </a:r>
            <a:endParaRPr sz="115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BDEBCB8B-7214-41E1-A681-5150E803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846320"/>
            <a:ext cx="5806440" cy="91440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0B1A2E"/>
          </a:solidFill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EBC21806-175C-481B-B5EA-FC9CB378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074920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贴图 Pin</a:t>
            </a:r>
            <a:endParaRPr sz="20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755D0482-A7DD-46B3-A660-B7146B4D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956048"/>
            <a:ext cx="3840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9C7DA"/>
                </a:solidFill>
                <a:latin typeface="Microsoft YaHei"/>
                <a:ea typeface="Microsoft YaHei"/>
                <a:cs typeface="Microsoft YaHei"/>
              </a:rPr>
              <a:t>将截图置顶显示在屏幕上，对照、参考更顺手</a:t>
            </a:r>
            <a:endParaRPr sz="12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77A66EB6-57C3-4841-B507-D9FE0445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321808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CC2FF"/>
                </a:solidFill>
                <a:latin typeface="Microsoft YaHei"/>
                <a:ea typeface="Microsoft YaHei"/>
                <a:cs typeface="Microsoft YaHei"/>
              </a:rPr>
              <a:t>文件速览：资源管理器选中文件后按空格</a:t>
            </a:r>
            <a:endParaRPr sz="1050"/>
          </a:p>
        </p:txBody>
      </p:sp>
      <p:pic>
        <p:nvPicPr>
          <p:cNvPr id="950" name="Kitopia screenshot capture">
            <a:extLst xmlns:a="http://schemas.openxmlformats.org/drawingml/2006/main">
              <a:ext uri="{FF2B5EF4-FFF2-40B4-BE49-F238E27FC236}">
                <a16:creationId xmlns:a16="http://schemas.microsoft.com/office/drawing/2014/main" id="{9C131CFA-33E3-49B6-B608-56E7E34DD0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a238d84094fb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27227" y="1783080"/>
            <a:ext cx="5273426" cy="2812494"/>
          </a:xfrm>
          <a:prstGeom xmlns:a="http://schemas.openxmlformats.org/drawingml/2006/main" prst="roundRect">
            <a:avLst>
              <a:gd name="adj" fmla="val 3000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195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E367C57-9256-446E-B721-D15EA4A8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BC00D5A-C1A8-43D2-A364-3F2A2105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7F20A56-E9AC-4C1D-92EE-981D88C0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SCENES · Kitopia 的灵魂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81241C7-DD90-4161-8734-DF0366A2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节点化情景：无需写代码，拖拽连线即可构建自动化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A1451B3-9C62-4408-B40C-D1EF5611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05  /  Kitopia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366D91A-BF72-4751-A342-BDE55967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类似 Unreal Engine 蓝图系统 —— 调用软件自身或插件提供的功能，组合出你的专属工作流。</a:t>
            </a:r>
            <a:endParaRPr sz="1400"/>
          </a:p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9E43B4A6-1E36-4210-AE77-CA170E78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3520440" cy="86868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1" name="Text 69">
            <a:extLst xmlns:a="http://schemas.openxmlformats.org/drawingml/2006/main">
              <a:ext uri="{FF2B5EF4-FFF2-40B4-BE49-F238E27FC236}">
                <a16:creationId xmlns:a16="http://schemas.microsoft.com/office/drawing/2014/main" id="{E6339BC9-E80E-4F8F-8EEF-A1D710F5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0352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可视化编辑</a:t>
            </a:r>
            <a:endParaRPr sz="1400"/>
          </a:p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89CEF0BA-1C2F-4694-A687-7C209FEA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5303520"/>
            <a:ext cx="1828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直观的逻辑编排</a:t>
            </a:r>
            <a:endParaRPr sz="1150"/>
          </a:p>
        </p:txBody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794B5114-DA94-48EF-B08F-A51689A2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03520"/>
            <a:ext cx="3520440" cy="86868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9007059F-6380-41CA-8E64-EB69225D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30352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无限可能</a:t>
            </a:r>
            <a:endParaRPr sz="1400"/>
          </a:p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A9292E4E-3389-48E8-B22F-80DE7ED8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03520"/>
            <a:ext cx="1828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组合不同插件能力</a:t>
            </a:r>
            <a:endParaRPr sz="1150"/>
          </a:p>
        </p:txBody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7616F02A-C4C8-4B72-A9E5-22B1404D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5303520"/>
            <a:ext cx="3520440" cy="86868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Text 75">
            <a:extLst xmlns:a="http://schemas.openxmlformats.org/drawingml/2006/main">
              <a:ext uri="{FF2B5EF4-FFF2-40B4-BE49-F238E27FC236}">
                <a16:creationId xmlns:a16="http://schemas.microsoft.com/office/drawing/2014/main" id="{B7E2A130-73C9-47E4-A2A9-2A1E7216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30352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情景市场</a:t>
            </a:r>
            <a:endParaRPr sz="1400"/>
          </a:p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CB6B018D-2186-48AD-BAFE-BCE77402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5303520"/>
            <a:ext cx="1828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上传、下载、一键导入他人情景</a:t>
            </a:r>
            <a:endParaRPr sz="1150"/>
          </a:p>
        </p:txBody>
      </p:sp>
      <p:pic>
        <p:nvPicPr>
          <p:cNvPr id="950" name="Kitopia screenshot nodes">
            <a:extLst xmlns:a="http://schemas.openxmlformats.org/drawingml/2006/main">
              <a:ext uri="{FF2B5EF4-FFF2-40B4-BE49-F238E27FC236}">
                <a16:creationId xmlns:a16="http://schemas.microsoft.com/office/drawing/2014/main" id="{7801178B-CC24-472B-A64F-15224DC17D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218fdc761424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37092" y="1920240"/>
            <a:ext cx="5728447" cy="3246120"/>
          </a:xfrm>
          <a:prstGeom xmlns:a="http://schemas.openxmlformats.org/drawingml/2006/main" prst="roundRect">
            <a:avLst>
              <a:gd name="adj" fmla="val 3000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71140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828C0E2-0C0A-41DC-BAF6-F146A384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1EB4B46-A96E-4E01-A453-760CFA20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D0EF88E-7251-43B8-944D-4040C1B7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DEVICE LINK · 设备互联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871ADCD-2BB6-4C36-88E9-9862C253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设备聊天：手机电脑互发消息与文件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3AB90E9-ECB5-4783-B396-F9C204A1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06  /  Kitopia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0844C5C-39AE-4E60-B6D7-52BF8739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5623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785EBB1-DB5A-47D3-9D4D-D41FD87C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8308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自动发现设备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2258978-417C-4614-8CEC-E65341C7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4884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局域网内自动发现 Windows / Android 设备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71D2FED-9A14-4A46-9D60-5C0D8A30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2491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BBC9BE3-B83B-4D33-8EA8-BCD7B358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5176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即时聊天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2F0CC0F-0731-4604-B859-567C8BAB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1752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跨设备收发消息，像聊天软件一样自然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6B9E570-247B-4180-BA1A-B308EE32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9359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FDB59B8-13E6-4023-A2E0-2AD0261C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文件传输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12CF7E5-E953-46E9-8CBD-C2C727B9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8620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发送文件与压缩包，实时显示速度和进度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D2D9021-5DAE-4DBD-9835-6F2FDFBA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6227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D197BAB-8A4C-4420-B865-2F964620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8912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接收确认</a:t>
            </a:r>
            <a:endParaRPr sz="1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917EEFE-56EF-45CF-8023-6BAFB495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5488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来件可选择接受或拒绝，安全可控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0412EB6-8EAF-4AEE-AE35-809AA878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3095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CD06741-ACCD-490C-9441-F46D0B51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移动端同步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66988B4-FC34-4A9A-820A-9F542967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2356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手机端同样支持聊天与文件收发</a:t>
            </a:r>
            <a:endParaRPr sz="1250"/>
          </a:p>
        </p:txBody>
      </p:sp>
      <p:pic>
        <p:nvPicPr>
          <p:cNvPr id="900" name="Kitopia screenshot desk">
            <a:extLst xmlns:a="http://schemas.openxmlformats.org/drawingml/2006/main">
              <a:ext uri="{FF2B5EF4-FFF2-40B4-BE49-F238E27FC236}">
                <a16:creationId xmlns:a16="http://schemas.microsoft.com/office/drawing/2014/main" id="{CFB3DB87-5546-48E5-A4B5-7DCCBD8D88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5daa200e1449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89321" y="1783080"/>
            <a:ext cx="4846318" cy="3028949"/>
          </a:xfrm>
          <a:prstGeom xmlns:a="http://schemas.openxmlformats.org/drawingml/2006/main" prst="roundRect">
            <a:avLst>
              <a:gd name="adj" fmla="val 3000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  <p:pic>
        <p:nvPicPr>
          <p:cNvPr id="901" name="Kitopia screenshot mobile">
            <a:extLst xmlns:a="http://schemas.openxmlformats.org/drawingml/2006/main">
              <a:ext uri="{FF2B5EF4-FFF2-40B4-BE49-F238E27FC236}">
                <a16:creationId xmlns:a16="http://schemas.microsoft.com/office/drawing/2014/main" id="{833B9234-A7E3-4A1D-B035-A47D2C30D7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f42b419024f1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92640" y="2436349"/>
            <a:ext cx="1770221" cy="3631223"/>
          </a:xfrm>
          <a:prstGeom xmlns:a="http://schemas.openxmlformats.org/drawingml/2006/main" prst="roundRect">
            <a:avLst>
              <a:gd name="adj" fmla="val 3000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434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0C3A9C8-0A22-46AD-A28A-03647529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8AE28D1-076F-43BB-B0AF-14598750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D5C6EE8-2A23-48F0-818E-AB0AC9C4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MORE TOOLS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5469E51-A7FA-4FEC-8440-32465395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划词翻译与媒体压缩：日常小事，一步搞定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CD85956-AF2D-458F-9700-10B5FBD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07  /  Kitopia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DE2CB74-B08B-4724-B54C-3F4C67D2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1051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6213877-1329-4EA4-966F-F3C0FC1F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3736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划词翻译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957D02B-C659-478B-8E2D-4BE4BB5B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21408"/>
            <a:ext cx="51206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选中任意文字即可翻译，自动识别语言</a:t>
            </a:r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支持复制结果、固定窗口，阅读外文不打断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8C7A522-C617-4ED6-8A6C-9BC472FB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1051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06AAFB-693B-48D7-921F-DF86FAC5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3736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图片批量压缩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151C948-C7EE-475B-9AC0-FB025A86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121408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批量添加文件，输出 WebP 等多种格式</a:t>
            </a:r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有损/无损可选，可调质量与尺寸比例</a:t>
            </a:r>
            <a:endParaRPr sz="1250"/>
          </a:p>
        </p:txBody>
      </p:sp>
      <p:pic>
        <p:nvPicPr>
          <p:cNvPr id="900" name="Kitopia screenshot xlate">
            <a:extLst xmlns:a="http://schemas.openxmlformats.org/drawingml/2006/main">
              <a:ext uri="{FF2B5EF4-FFF2-40B4-BE49-F238E27FC236}">
                <a16:creationId xmlns:a16="http://schemas.microsoft.com/office/drawing/2014/main" id="{4E7B8CD2-B3C3-463B-A214-21B6CFB234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6cf9d376c4a1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8680" y="3017520"/>
            <a:ext cx="4209053" cy="3108960"/>
          </a:xfrm>
          <a:prstGeom xmlns:a="http://schemas.openxmlformats.org/drawingml/2006/main" prst="roundRect">
            <a:avLst>
              <a:gd name="adj" fmla="val 3000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  <p:pic>
        <p:nvPicPr>
          <p:cNvPr id="901" name="Kitopia screenshot compress">
            <a:extLst xmlns:a="http://schemas.openxmlformats.org/drawingml/2006/main">
              <a:ext uri="{FF2B5EF4-FFF2-40B4-BE49-F238E27FC236}">
                <a16:creationId xmlns:a16="http://schemas.microsoft.com/office/drawing/2014/main" id="{3AF1266C-A330-475D-AC69-D7C76C4BB4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cda4c0cae4cd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00643" y="3017520"/>
            <a:ext cx="4957531" cy="3108960"/>
          </a:xfrm>
          <a:prstGeom xmlns:a="http://schemas.openxmlformats.org/drawingml/2006/main" prst="roundRect">
            <a:avLst>
              <a:gd name="adj" fmla="val 3000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82444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166D939-809F-4B51-A723-D5C0D33E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7CE1D-33F3-4E33-9F61-5F56B057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068A4E1-96B2-4BB4-B61E-CAFB079B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VIDEO COMPRESSION · KitopiaEx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468F649-CAF1-4D4F-8240-3396F83C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视频压缩与转换：批量处理，按需设置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31E9F1C-2DA6-40AC-B568-C1EA80E0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08  /  Kitopia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2533133-825C-43E0-B811-A91998BA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5623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29CC175-E6BA-4785-A57C-86B435FE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8308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批量处理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B32BF45-2CA7-4A7B-A6C9-74D9D321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4884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添加视频或文件夹，逐项查看状态与输出体积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F566EB6-ABCA-49EF-9C17-B4AB0820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2491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33A325D-258E-4152-83F8-BCA6AFF4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5176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格式与编码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78143FE-94F8-4F6B-B2D8-4B435DBA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1752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MP4 / </a:t>
            </a: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WebM</a:t>
            </a: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 / MKV / MOV，H.264 / HEVC / VP9 / AV1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0A26C6F-D07F-4105-9324-8A5DA5AC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9359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5A0CBD-7FD3-49FC-90BA-8F1A1D20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画质与目标体积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B23B7C2-8A89-4202-88A7-1A727D0D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8620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按画质百分比压缩，或设置目标体积比例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0032F00-4726-47A9-8EC0-F0344635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6227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9D807B9-4DC8-470C-B1C9-9A918529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8912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尺寸与音轨</a:t>
            </a:r>
            <a:endParaRPr sz="1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55C1950-819E-4F5A-B553-57E37F1D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5488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调整尺寸比例和最长边，可保留全部音轨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E2F893C-030F-4262-B686-4CE0F891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3095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8F40B06-8D25-416D-848C-DAF40330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HDR 与格式转换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3E9DAA7-F443-4123-92D4-950BAE1B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2356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HDR 转 SDR，或保持原编码转换文件格式</a:t>
            </a:r>
            <a:endParaRPr sz="1250"/>
          </a:p>
        </p:txBody>
      </p:sp>
      <p:pic>
        <p:nvPicPr>
          <p:cNvPr id="900" name="Kitopia screenshot searchpdf">
            <a:extLst xmlns:a="http://schemas.openxmlformats.org/drawingml/2006/main">
              <a:ext uri="{FF2B5EF4-FFF2-40B4-BE49-F238E27FC236}">
                <a16:creationId xmlns:a16="http://schemas.microsoft.com/office/drawing/2014/main" id="{29193BEC-60ED-44DC-B0BB-30949913EB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244eef998463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15050" y="1743075"/>
            <a:ext cx="5448300" cy="3971925"/>
          </a:xfrm>
          <a:prstGeom xmlns:a="http://schemas.openxmlformats.org/drawingml/2006/main" prst="roundRect">
            <a:avLst>
              <a:gd name="adj" fmla="val 3177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61014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166D939-809F-4B51-A723-D5C0D33E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7CE1D-33F3-4E33-9F61-5F56B057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068A4E1-96B2-4BB4-B61E-CAFB079B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BATCH RENAME · KitopiaEx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468F649-CAF1-4D4F-8240-3396F83C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批量重命名：先预览，再统一整理文件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31E9F1C-2DA6-40AC-B568-C1EA80E0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09  /  Kitopia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2533133-825C-43E0-B811-A91998BA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5623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29CC175-E6BA-4785-A57C-86B435FE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8308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命名规则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B32BF45-2CA7-4A7B-A6C9-74D9D321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4884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设置基础名称、前后缀，也可查找并替换原名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F566EB6-ABCA-49EF-9C17-B4AB0820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2491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33A325D-258E-4152-83F8-BCA6AFF4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5176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排序与连续编号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78143FE-94F8-4F6B-B2D8-4B435DBA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1752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按名称、类型、大小或时间排序，设置起始值与位数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0A26C6F-D07F-4105-9324-8A5DA5AC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9359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5A0CBD-7FD3-49FC-90BA-8F1A1D20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冲突预览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B23B7C2-8A89-4202-88A7-1A727D0D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8620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对照原名和新名，执行前检查重名与无效名称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0032F00-4726-47A9-8EC0-F0344635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6227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9D807B9-4DC8-470C-B1C9-9A918529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8912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图片压缩副本</a:t>
            </a:r>
            <a:endParaRPr sz="1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55C1950-819E-4F5A-B553-57E37F1D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5488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可同步压缩为 WebP、JPEG 或 PNG，并保留原图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E2F893C-030F-4262-B686-4CE0F891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3095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8F40B06-8D25-416D-848C-DAF40330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资源管理器直达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3E9DAA7-F443-4123-92D4-950BAE1B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2356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支持添加文件或文件夹，也可从右键菜单打开</a:t>
            </a:r>
            <a:endParaRPr sz="1250"/>
          </a:p>
        </p:txBody>
      </p:sp>
      <p:pic>
        <p:nvPicPr>
          <p:cNvPr id="900" name="Kitopia screenshot searchpdf">
            <a:extLst xmlns:a="http://schemas.openxmlformats.org/drawingml/2006/main">
              <a:ext uri="{FF2B5EF4-FFF2-40B4-BE49-F238E27FC236}">
                <a16:creationId xmlns:a16="http://schemas.microsoft.com/office/drawing/2014/main" id="{29193BEC-60ED-44DC-B0BB-30949913EB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1a3079218431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953125" y="2171700"/>
            <a:ext cx="5610225" cy="3725513"/>
          </a:xfrm>
          <a:prstGeom xmlns:a="http://schemas.openxmlformats.org/drawingml/2006/main" prst="roundRect">
            <a:avLst>
              <a:gd name="adj" fmla="val 3387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61014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D83517D-8BA7-4204-B9E3-BEFE63FC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6C6D95C-1139-45C5-9F14-C88C250F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56C440D-D514-407E-8023-C216A747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WINDOWS INTEGRATION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E57B646-4786-487D-91F3-7B88CC0B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Windows </a:t>
            </a: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系统深度功能：解锁文件，置顶窗口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16BEDE2-2281-4D5A-9A95-7D2F070D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10  /  Kitopia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4781056-1BDF-4EBF-ABBA-3D9AC7BA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5623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DA57012-CE17-470B-BACC-2ED86622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8308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文件占用检测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1B14FF-2199-4150-AB85-2A705DAD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4884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查看占用文件的进程，支持全系统监控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EAA5C3C-B3E9-4A60-B7EA-BD9E5926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2491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1657E9A-D7D0-4B88-A7FE-E6613109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5176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按需解锁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8FF28BF-DCC1-40DF-A592-6934CDD0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1752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解除选中或全部占用，释放被锁定的文件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3F00E48-B81E-4503-B5DF-D325B472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9359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FFCC1CE-71E9-4D36-B795-962209B3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结束进程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ABE3D38-94F3-4595-A171-ED0E3C33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8620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一键结束占用进程，删除移动不再受阻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EEC02BE-3029-4AF8-86DE-4ED0A8B4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6227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794267F-6F4B-49C3-8216-E2E3A7E2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8912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窗口置顶</a:t>
            </a:r>
            <a:endParaRPr sz="1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76A6A67-8234-439B-AB6B-980ECBC0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5488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Ctrl + Alt + T </a:t>
            </a: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切换当前窗口置顶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2F5E95F-5C14-4B3D-A974-AF16FF52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3095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EB60146-1101-4A52-9C32-3DCFF933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资源管理器右键菜单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F7C3448-F762-44F5-BBDF-69DFB333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2356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直达局域网分享、图片压缩和索引等功能</a:t>
            </a:r>
            <a:endParaRPr sz="1250"/>
          </a:p>
        </p:txBody>
      </p:sp>
      <p:pic>
        <p:nvPicPr>
          <p:cNvPr id="900" name="Kitopia screenshot filelock">
            <a:extLst xmlns:a="http://schemas.openxmlformats.org/drawingml/2006/main">
              <a:ext uri="{FF2B5EF4-FFF2-40B4-BE49-F238E27FC236}">
                <a16:creationId xmlns:a16="http://schemas.microsoft.com/office/drawing/2014/main" id="{2EF876FB-6E97-4CEB-8EF5-AE0260CA14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2902e36b043a3"/>
          <a:srcRect xmlns:a="http://schemas.openxmlformats.org/drawingml/2006/main" l="0" t="100" r="0" b="100"/>
          <a:stretch xmlns:a="http://schemas.openxmlformats.org/drawingml/2006/main"/>
        </p:blipFill>
        <p:spPr>
          <a:xfrm xmlns:a="http://schemas.openxmlformats.org/drawingml/2006/main">
            <a:off x="6115050" y="2074187"/>
            <a:ext cx="5448300" cy="3309700"/>
          </a:xfrm>
          <a:prstGeom xmlns:a="http://schemas.openxmlformats.org/drawingml/2006/main" prst="roundRect">
            <a:avLst>
              <a:gd name="adj" fmla="val 3177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96806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134EA5-020C-49CD-B9CB-EDF2C981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88E7B6-ACF2-4DF3-97B7-25A4B39C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A84E0A8-71FA-42A5-877E-BCE43E52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QUICK LOOK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08B5C0A-9518-407E-AAA6-58A6DADD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空格秒速文件预览：选中即看，无需打开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854C186-440E-4A17-B28D-34997095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11  /  Kitopia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C0ABE1A-9594-4192-A24D-72FAAC0A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5623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1DC8FB2-034F-4561-A7A8-543A59FA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8308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资源管理器空格预览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8A0C5BD-3CC4-43AC-9A65-7144722D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4884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选中文件按空格，即刻弹出预览窗口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AFF2414-D379-4B93-974A-F45A8CAE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2491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9E52B5D-1597-4A5B-B7F3-E4AE8A47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5176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搜索框预览模式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D714CF5-72A3-4548-882E-02BB6F82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1752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Alt + Space </a:t>
            </a: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搜索结果旁直接预览文件内容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97E29FD-75B5-4C05-8651-94A0799D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9359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023B2B2-3225-47F0-96DF-AB8D0D86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文档阅读工具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116CEC-A9FB-449F-BF31-D3FFDDCF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8620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PDF </a:t>
            </a: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支持缩放、翻页、旋转与搜索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8ABFA53-8E78-4BA4-B0C3-1B6E53A7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6227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B9EA067-B0AD-4C5C-990E-38A4ED4A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8912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一键打开文件</a:t>
            </a:r>
            <a:endParaRPr sz="1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45D827F-0983-4AE4-9B33-BD7F4D57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5488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点击「打开文件」，用默认程序继续编辑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7D4819B-EC82-4C2C-A299-1B2B33D9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30952"/>
            <a:ext cx="73152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E031353-F92A-43D8-B041-A09AD740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全屏与文件信息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F968833-06F5-4920-B3F9-F453FDBB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2356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可全屏查看，底部显示大小与修改时间</a:t>
            </a:r>
            <a:endParaRPr sz="1250"/>
          </a:p>
        </p:txBody>
      </p:sp>
      <p:pic>
        <p:nvPicPr>
          <p:cNvPr id="900" name="Kitopia screenshot quicklook">
            <a:extLst xmlns:a="http://schemas.openxmlformats.org/drawingml/2006/main">
              <a:ext uri="{FF2B5EF4-FFF2-40B4-BE49-F238E27FC236}">
                <a16:creationId xmlns:a16="http://schemas.microsoft.com/office/drawing/2014/main" id="{CF1E9C10-2C99-41B2-8882-3A189E092C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6e600cc8146ab"/>
          <a:srcRect xmlns:a="http://schemas.openxmlformats.org/drawingml/2006/main" l="0" t="100" r="0" b="100"/>
          <a:stretch xmlns:a="http://schemas.openxmlformats.org/drawingml/2006/main"/>
        </p:blipFill>
        <p:spPr>
          <a:xfrm xmlns:a="http://schemas.openxmlformats.org/drawingml/2006/main">
            <a:off x="7178040" y="1417320"/>
            <a:ext cx="4389120" cy="3163218"/>
          </a:xfrm>
          <a:prstGeom xmlns:a="http://schemas.openxmlformats.org/drawingml/2006/main" prst="roundRect">
            <a:avLst>
              <a:gd name="adj" fmla="val 3177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22000"/>
              </a:srgbClr>
            </a:outerShdw>
          </a:effectLst>
        </p:spPr>
      </p:pic>
      <p:pic>
        <p:nvPicPr>
          <p:cNvPr id="901" name="Kitopia screenshot search preview">
            <a:extLst xmlns:a="http://schemas.openxmlformats.org/drawingml/2006/main">
              <a:ext uri="{FF2B5EF4-FFF2-40B4-BE49-F238E27FC236}">
                <a16:creationId xmlns:a16="http://schemas.microsoft.com/office/drawing/2014/main" id="{E6FCDF36-7FF2-46A6-A5F8-ECFD278356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b031501104e4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43600" y="3154680"/>
            <a:ext cx="3657600" cy="2929050"/>
          </a:xfrm>
          <a:prstGeom xmlns:a="http://schemas.openxmlformats.org/drawingml/2006/main" prst="roundRect">
            <a:avLst>
              <a:gd name="adj" fmla="val 4305"/>
            </a:avLst>
          </a:prstGeom>
          <a:ln xmlns:a="http://schemas.openxmlformats.org/drawingml/2006/main" w="9525">
            <a:solidFill>
              <a:srgbClr val="D0D7E2"/>
            </a:solidFill>
          </a:ln>
          <a:effectLst xmlns:a="http://schemas.openxmlformats.org/drawingml/2006/main">
            <a:outerShdw blurRad="190500" dist="38100" dir="5400000" algn="t" rotWithShape="0">
              <a:srgbClr val="1B2A4A">
                <a:alpha val="14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84071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1805B02-8B59-48C2-B49B-1AC56A98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04F43D-F07F-4488-BD99-7C36FD72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404644D-1A7F-4830-B737-6775D121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ECOSYSTEM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63D34ED-3AE0-4D1B-B161-E42A1869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插件中心与持续扩展的能力生态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56C3C35-C235-4158-82CB-2ABCB65D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12  /  Kitopia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0145AF5-521A-46FE-9FCC-267E5AC9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4206240" cy="443484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76B78F3-2ECD-4990-A5D7-E14955BC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1168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CD02A11-9F97-442E-A2A2-18130C2F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1168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插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E6A9531-2D38-48DE-B94E-3CF13117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78892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插件中心</a:t>
            </a:r>
            <a:endParaRPr sz="2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1DFB0C6-56EC-40C2-BB1F-1EED3240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37560"/>
            <a:ext cx="361188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用户友好的插件管理界面，一键安装与管理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开发者使用 Plugin SDK 开发拓展功能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插件市场支持评分、标签与下载进度显示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018123-F8DB-4ACA-B122-6D53C041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欢迎提交 PR 或开发插件 →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35F2C65-E6E1-4DCE-B7AF-7F3C92CB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69164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886D7D5-BF33-4C37-B9C3-3D84888B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05740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8A5C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7BE6F0-8AA9-44B6-9011-F65E0DE9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0574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</a:t>
            </a:r>
            <a:endParaRPr sz="1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D21CA0B-F780-4BCA-8A77-C9F7BC50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4767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本地 AI 推理</a:t>
            </a:r>
            <a:endParaRPr sz="14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EE6207F-F78F-43EF-80B6-90A16245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33172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ONNX：CPU / GPU / OpenVINO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99EA89A-A063-4C9F-97F8-4355FA2D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69164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587D434-C946-4BBE-BB5C-FBFD0697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05740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E8A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5C2E9FE-6D4F-4470-BAA0-1FAE75B9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0574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右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3F46AAD-A4F3-4730-8298-44846128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94767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右键菜单集成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2861B57-788C-44B8-9344-971BA363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233172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资源管理器右键直达常用功能</a:t>
            </a:r>
            <a:endParaRPr sz="11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C073968-9E2D-465F-84B4-B3DBA90D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20040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8E104F6-6B40-4F6B-882F-1126C8B3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56616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9480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F9A36AF-6469-4AC7-94BF-8DE9E1C7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56616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</a:t>
            </a:r>
            <a:endParaRPr sz="16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71CBE33-36C0-4B3E-B78D-5E191AFE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45643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通知中心</a:t>
            </a:r>
            <a:endParaRPr sz="14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7D6A0A7-28E2-41E3-B2FC-203E80F7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4048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统一收纳通知，一键清除全部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0D4ABD1-A0D7-4D04-B65F-1EE08D88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20040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254914D-62A1-45F7-8291-3DCE9E41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56616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C60ED35-B6FA-4445-8106-D2A8B195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56616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</a:t>
            </a:r>
            <a:endParaRPr sz="16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2310218-F3AE-48CB-9011-572B7630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45643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自动更新</a:t>
            </a:r>
            <a:endParaRPr sz="14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D157EB4-723E-4703-A134-A833D7E0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84048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支持静默安装，可选预发布版本</a:t>
            </a:r>
            <a:endParaRPr sz="11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3A3CEFD6-BDCA-43B7-96BD-86709F83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70916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2640F068-35F0-43C0-B637-33834FE4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07492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4C9A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AD5DBBE-F86A-4877-BC99-CCFEFE9B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07492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色</a:t>
            </a:r>
            <a:endParaRPr sz="16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4BC6776-C55E-40D5-B8C4-16A31C8E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96519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个性化主题</a:t>
            </a:r>
            <a:endParaRPr sz="145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0C498B5-0832-4723-A700-C4D69D2D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34924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跟随系统主题色或自定义</a:t>
            </a:r>
            <a:endParaRPr sz="110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CBDCA831-BF00-4BFA-B62F-9922FD71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70916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C4DA9DAD-67DA-4797-BA06-5F1D6981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507492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5B647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08ABDCD6-F128-4DEA-B03F-779DEF7D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507492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</a:t>
            </a:r>
            <a:endParaRPr sz="16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CB85D56B-5A92-4733-9244-502C5997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96519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多语言</a:t>
            </a:r>
            <a:endParaRPr sz="145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146C2165-1765-48DB-971B-F65A5087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534924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中文 / English 本地化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0080234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16B65D-FE81-4B97-8913-E48CA46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9A01D2D-16DE-43C1-A19D-C104D19D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79C62ED-CD62-4AAE-A0D9-1CB42EA0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DEVELOPER GUIDE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C5FD8B0-F313-437C-A496-5DE399B1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插件开发者指南：六步打造你的 Kitopia 插件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0B5B155-5988-4539-9830-BB25378D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400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3A3"/>
                </a:solidFill>
                <a:latin typeface="Microsoft YaHei"/>
                <a:ea typeface="Microsoft YaHei"/>
                <a:cs typeface="Microsoft YaHei"/>
              </a:rPr>
              <a:t>13  /  Kitopia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9646175-03A9-46BB-879D-08AB1CCD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4206240" cy="443484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9498F31-A023-4254-8FD7-CBDECD75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1168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33426AA-0F90-4F8A-B1F8-C2D525A8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1168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&lt;/&gt;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569ACD7-293E-41AC-A454-64BB77C7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78892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插件是怎样运行的</a:t>
            </a:r>
            <a:endParaRPr sz="2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7B9FD19-31AF-432C-BB84-0665637C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37560"/>
            <a:ext cx="361188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每个插件运行在独立的 AssemblyLoadContext 中，隔离加载、可安全卸载</a:t>
            </a:r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宿主按 Init → Load → Enable 管理插件生命周期</a:t>
            </a:r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支持插件依赖其他插件；可参考官方插件 KitopiaEx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95D6E93-10F7-4D21-AF26-8AE18A9B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67C0"/>
                </a:solidFill>
                <a:latin typeface="Microsoft YaHei"/>
                <a:ea typeface="Microsoft YaHei"/>
                <a:cs typeface="Microsoft YaHei"/>
              </a:rPr>
              <a:t>Plugin SDK：Kitopia.Desktop.PluginSdk →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7400043-3BEE-4458-97C8-EB4487D3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69164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11B46A4-07DF-499F-A469-5B3C8832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05740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8A5C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0B743FD-F4B2-4913-A891-6D20D3ED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0574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1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E570E41-36F5-452F-8C16-6A44BA57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4767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新建类库项目</a:t>
            </a:r>
            <a:endParaRPr sz="14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85AA6DE-3909-49C7-8DE0-3F46D191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33172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标准 .NET 类库，按要求配置 .csproj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E69F6EA-7B33-4B6C-9147-FC411AB9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69164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BD06A7A-95DC-430A-A4E6-CE5EA602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05740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E8A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517CB80-F97F-4544-B05B-42D80C2D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0574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2C85F9D-8249-4687-B35F-7AC67355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94767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引用 Plugin SDK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F0A758B-72E9-4196-935F-4A9E7206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233172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获取截图、剪贴板、通知等宿主接口</a:t>
            </a:r>
            <a:endParaRPr sz="11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F4FFDE3-306D-4008-B187-CA756FA2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20040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280C574-F4A7-400C-A17B-3CBDD191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56616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9480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64F214C-965E-4164-B842-2BCD6461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56616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16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F966B0E-3CDF-4A85-BDA4-8E8C410E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45643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编写 manifest.json</a:t>
            </a:r>
            <a:endParaRPr sz="14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9255AEA-3533-42DE-B2FA-647CB6E3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4048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声明 Id、Name、Main 与 Dependencies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DB2A1E9-BAA9-4F86-8B4C-8DA9431C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20040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FC5AE866-4D8C-499C-8182-812BFF7F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56616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067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2F0F4DA-905D-47BD-87E9-302B9922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56616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16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E624F16-2627-48ED-BBEC-43C4F874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45643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实现 IPlugin</a:t>
            </a:r>
            <a:endParaRPr sz="14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905F971-EA81-4D4F-972E-6E07304D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84048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处理 OnEnabled / OnDisabled 生命周期</a:t>
            </a:r>
            <a:endParaRPr sz="11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0CDA894D-D844-4981-A01B-B8159285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70916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3D05A96F-19A9-4F4D-9469-F604EAF0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07492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4C9A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28BD5F7-1AF8-4214-A362-74ABFC0E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07492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  <a:endParaRPr sz="16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4D9C89DA-9D4B-45DB-A4EF-2C134456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96519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注册服务与情景方法</a:t>
            </a:r>
            <a:endParaRPr sz="145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04E5DE4-2546-4FF2-AB55-C7F7CA1C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34924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通过 ServiceCollection 暴露节点能力</a:t>
            </a:r>
            <a:endParaRPr sz="110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1E1AEDF4-F797-43DA-9337-3A38C6D5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709160"/>
            <a:ext cx="3108960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1B2A4A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3BE34AA6-94AF-4D91-8743-9354B80F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507492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5B647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424B8AEA-26B7-451B-911E-5D2FF386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507492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  <a:endParaRPr sz="16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09BF1020-8718-48BB-8F6E-2CC4BAD3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96519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27"/>
                </a:solidFill>
                <a:latin typeface="Microsoft YaHei"/>
                <a:ea typeface="Microsoft YaHei"/>
                <a:cs typeface="Microsoft YaHei"/>
              </a:rPr>
              <a:t>发布到插件市场</a:t>
            </a:r>
            <a:endParaRPr sz="145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E1454173-58E6-456C-BDC4-87C6907F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534924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474"/>
                </a:solidFill>
                <a:latin typeface="Microsoft YaHei"/>
                <a:ea typeface="Microsoft YaHei"/>
                <a:cs typeface="Microsoft YaHei"/>
              </a:rPr>
              <a:t>上传版本，用户一键安装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867935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CCABAE5-CD20-4430-A765-8936C9CA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FF">
              <a:alpha val="14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24A597F-C656-49D7-B407-721AD621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402336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6">
              <a:alpha val="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B61E2E8-CAFA-4F33-A1E5-EF81E0B7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300">
                <a:solidFill>
                  <a:srgbClr val="0064FA"/>
                </a:solidFill>
                <a:latin typeface="Microsoft YaHei"/>
                <a:ea typeface="Microsoft YaHei"/>
                <a:cs typeface="Microsoft YaHei"/>
              </a:rPr>
              <a:t>GET STARTED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7D0C111-5ADD-413D-B543-AFB60037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86868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Kitopia 1.0.0 正式版，现已发布</a:t>
            </a:r>
            <a:endParaRPr sz="3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E17D3A8-3BF3-4CA7-926D-E6E0FD25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514600"/>
            <a:ext cx="9966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5DB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D4A4A52-4F8F-4FB0-BCFF-6A6B3B14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3865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4F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B160F06-FC15-465A-A1A5-4B1437BB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182880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0.3.7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8AEE83D-1760-44E7-A7CD-3EAE8938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" y="2788920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插件市场 &amp; 情景市场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7DF1CEF-0990-4296-8B72-65C5FD35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004" y="23865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4F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4DEFAEA-1ACD-4FBA-83E3-6D8690DB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" y="182880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0.3.8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454D563-BF1E-4268-901A-648CED79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7460" y="2788920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多语言 &amp; 主题色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F245805-B0AB-48AA-B5A9-E602F4F2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744" y="23865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4F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D99F9E4-B6E7-4339-A5CC-9B256211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82880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0.4.0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44C70D7-5DB8-44D1-8AE0-A792B787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88920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划词翻译 &amp; 图像压缩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F7F49D9-EDA0-4E71-B594-2913B2ED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484" y="23865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4F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6C2B309-F7C1-45E2-AB1C-B168D6EF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2880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0.4.1</a:t>
            </a:r>
            <a:endParaRPr sz="1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8FBDB3D-98FF-4936-A2A9-87A281C7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0" y="2788920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通知中心 &amp; 文件传输优化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BA92DE4-694C-4D26-A188-2BF52516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23865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4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B113E44-01E0-42A4-9987-0758B392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182880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064FA"/>
                </a:solidFill>
                <a:latin typeface="Segoe UI"/>
                <a:ea typeface="Segoe UI"/>
                <a:cs typeface="Segoe UI"/>
              </a:rPr>
              <a:t>1.0.0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8481BA6-CA7E-447C-8041-CC5C9138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788920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正式版发布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0C44996-E7E6-45ED-8A27-9CE22BFA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40480"/>
            <a:ext cx="2331720" cy="146304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06BAD45-8144-409B-93DD-C2D6596C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023360"/>
            <a:ext cx="1920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1,300+</a:t>
            </a:r>
            <a:endParaRPr sz="2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10CFD03-3970-45D8-866E-C8A99358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61772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Commits 持续迭代</a:t>
            </a:r>
            <a:endParaRPr sz="12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B83FF90-9E0F-4D80-BA55-090304B1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840480"/>
            <a:ext cx="2331720" cy="146304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45083AC-EFB7-4361-9C97-A0FD7ABC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023360"/>
            <a:ext cx="1920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x64 / ARM64</a:t>
            </a:r>
            <a:endParaRPr sz="2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A730FBB-D6AB-48CE-99BF-A8AFB4C5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61772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Windows 安装包</a:t>
            </a:r>
            <a:endParaRPr sz="12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04C164ED-B9BD-4732-B440-92799E75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840480"/>
            <a:ext cx="2331720" cy="146304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7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6CCB328-752D-48C3-9B3A-F8035EDE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023360"/>
            <a:ext cx="1920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Avalonia</a:t>
            </a:r>
            <a:endParaRPr sz="2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8389D1D-F8A4-4178-8CB4-AF06E090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1772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跨平台 .NET UI</a:t>
            </a:r>
            <a:endParaRPr sz="12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A9005CD-C8F8-4B46-9F09-1D650AFA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840480"/>
            <a:ext cx="3154680" cy="146304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064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466A0DC-1EDE-4198-907A-6C2D6EC6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4005072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立即下载</a:t>
            </a:r>
            <a:endParaRPr sz="20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C1BE63B3-DFC4-41B9-8D3A-5BEA31E3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4480560"/>
            <a:ext cx="2788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8F1FB"/>
                </a:solidFill>
                <a:latin typeface="Segoe UI"/>
                <a:ea typeface="Segoe UI"/>
                <a:cs typeface="Segoe UI"/>
              </a:rPr>
              <a:t>GitHub Releases</a:t>
            </a:r>
            <a:endParaRPr sz="1150"/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8F1FB"/>
                </a:solidFill>
                <a:latin typeface="Segoe UI"/>
                <a:ea typeface="Segoe UI"/>
                <a:cs typeface="Segoe UI"/>
              </a:rPr>
              <a:t>github.com/Maklith/Kitopia</a:t>
            </a:r>
            <a:endParaRPr sz="11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5806CEFA-51F8-4BF2-977A-08C5AD4F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521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欢迎</a:t>
            </a:r>
            <a:r>
              <a:rPr sz="120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Star、Issue</a:t>
            </a:r>
            <a:r>
              <a:rPr sz="120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 与 PR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45786667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2026-10-16T06:11:48.3140000Z</dcterms:created>
  <dcterms:modified xsi:type="dcterms:W3CDTF">2026-10-16T06:11:48.3140000Z</dcterms:modified>
</coreProperties>
</file>