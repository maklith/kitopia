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9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Preview image source: Misaka Mikoto, A Certain Scientific Railgun T official character page. https://toaru-project.com/railgun_t/chara/mikoto.html</a:t>
            </a:r>
          </a:p>
          <a:p>
            <a:r>
              <a:t>Image: https://toaru-project.com/railgun_t/core_sys/images/contents/00000008/block/00000001/00000242.jpg</a:t>
            </a:r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Preview image source: Misaka Mikoto, A Certain Scientific Railgun T official character page. https://toaru-project.com/railgun_t/chara/mikoto.html</a:t>
            </a:r>
          </a:p>
          <a:p>
            <a:r>
              <a:t>Image: https://toaru-project.com/railgun_t/core_sys/images/contents/00000008/block/00000001/00000242.jpg</a:t>
            </a:r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Feature source: plugins/KitopiaEx/BatchRename/BatchRenameViewModel.cs and BatchRenameWindow.axaml. Screenshots rendered by docs/tools/render using Avalonia Headless and Skia. Compression creates renamed image copies and preserves original images. Other files are renamed or moved.</a:t>
            </a:r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Product screenshots: docs/tools/render. Image material: https://toaru-project.com/railgun_t/chara/mikoto.html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videoplayback">
            <a:hlinkClick r:id="" action="ppaction://media"/>
            <a:extLst>
              <a:ext uri="{FF2B5EF4-FFF2-40B4-BE49-F238E27FC236}">
                <a16:creationId xmlns:a16="http://schemas.microsoft.com/office/drawing/2014/main" id="{C3290669-8160-11A9-CD40-7C6DDF60335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73945" y="6982077"/>
            <a:ext cx="406400" cy="4064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C68EA94-9D0B-47EE-8D46-A87CC7BB31A5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4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FFEC6-C929-4567-A851-CFB352895D3B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2ADFFE-B3E5-4152-ABE7-5136F8EFAECC}"/>
              </a:ext>
            </a:extLst>
          </p:cNvPr>
          <p:cNvSpPr>
            <a:spLocks noGrp="1"/>
          </p:cNvSpPr>
          <p:nvPr/>
        </p:nvSpPr>
        <p:spPr>
          <a:xfrm>
            <a:off x="731520" y="118872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300">
                <a:solidFill>
                  <a:srgbClr val="0064FA"/>
                </a:solidFill>
                <a:latin typeface="Microsoft YaHei"/>
                <a:ea typeface="Microsoft YaHei"/>
                <a:cs typeface="Microsoft YaHei"/>
              </a:rPr>
              <a:t>OPEN SOURCE · FREE · PLUGINS · NODES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658A0D0-4AD6-415B-AEA8-25801659BC5B}"/>
              </a:ext>
            </a:extLst>
          </p:cNvPr>
          <p:cNvSpPr>
            <a:spLocks noGrp="1"/>
          </p:cNvSpPr>
          <p:nvPr/>
        </p:nvSpPr>
        <p:spPr>
          <a:xfrm>
            <a:off x="731520" y="1645920"/>
            <a:ext cx="640080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600" b="1" err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Kitopia</a:t>
            </a:r>
            <a:endParaRPr sz="66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EC07111-3429-4E29-9ED5-DCC4ECB32429}"/>
              </a:ext>
            </a:extLst>
          </p:cNvPr>
          <p:cNvSpPr>
            <a:spLocks noGrp="1"/>
          </p:cNvSpPr>
          <p:nvPr/>
        </p:nvSpPr>
        <p:spPr>
          <a:xfrm>
            <a:off x="731520" y="288036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err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属于你的新一代桌面全能效率神器</a:t>
            </a:r>
            <a:endParaRPr sz="26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FF878C6-C0BC-4A32-B64F-A1200A7F62FC}"/>
              </a:ext>
            </a:extLst>
          </p:cNvPr>
          <p:cNvSpPr>
            <a:spLocks noGrp="1"/>
          </p:cNvSpPr>
          <p:nvPr/>
        </p:nvSpPr>
        <p:spPr>
          <a:xfrm>
            <a:off x="731520" y="35204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开源 · 自由 · 插件化 · 节点化的桌面效率工具集合</a:t>
            </a:r>
            <a:endParaRPr sz="15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BFE1A5E-0586-4751-B620-1F277E9EEA2B}"/>
              </a:ext>
            </a:extLst>
          </p:cNvPr>
          <p:cNvSpPr>
            <a:spLocks noGrp="1"/>
          </p:cNvSpPr>
          <p:nvPr/>
        </p:nvSpPr>
        <p:spPr>
          <a:xfrm>
            <a:off x="731520" y="4343400"/>
            <a:ext cx="2377440" cy="502920"/>
          </a:xfrm>
          <a:prstGeom prst="roundRect">
            <a:avLst>
              <a:gd name="adj" fmla="val 49091"/>
            </a:avLst>
          </a:prstGeom>
          <a:solidFill>
            <a:srgbClr val="0064FA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B15C077-0AEA-4458-9346-12CF5C09A881}"/>
              </a:ext>
            </a:extLst>
          </p:cNvPr>
          <p:cNvSpPr>
            <a:spLocks noGrp="1"/>
          </p:cNvSpPr>
          <p:nvPr/>
        </p:nvSpPr>
        <p:spPr>
          <a:xfrm>
            <a:off x="731520" y="434340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1.0.0 正式版已发布</a:t>
            </a:r>
            <a:endParaRPr sz="13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890536F-3AA3-4E55-AB6D-DF193AC6BA5B}"/>
              </a:ext>
            </a:extLst>
          </p:cNvPr>
          <p:cNvSpPr>
            <a:spLocks noGrp="1"/>
          </p:cNvSpPr>
          <p:nvPr/>
        </p:nvSpPr>
        <p:spPr>
          <a:xfrm>
            <a:off x="3291840" y="434340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6B7280"/>
                </a:solidFill>
                <a:latin typeface="Segoe UI"/>
                <a:ea typeface="Segoe UI"/>
                <a:cs typeface="Segoe UI"/>
              </a:rPr>
              <a:t>github.com/Maklith/Kitopia</a:t>
            </a:r>
            <a:endParaRPr sz="1300"/>
          </a:p>
        </p:txBody>
      </p:sp>
      <p:pic>
        <p:nvPicPr>
          <p:cNvPr id="900" name="Kitopia screenshot preview">
            <a:extLst>
              <a:ext uri="{FF2B5EF4-FFF2-40B4-BE49-F238E27FC236}">
                <a16:creationId xmlns:a16="http://schemas.microsoft.com/office/drawing/2014/main" id="{6B4D0497-0600-4A6F-B195-7E5BF67F0A5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95796" y="1143000"/>
            <a:ext cx="3433769" cy="2479944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  <p:pic>
        <p:nvPicPr>
          <p:cNvPr id="901" name="Kitopia screenshot search">
            <a:extLst>
              <a:ext uri="{FF2B5EF4-FFF2-40B4-BE49-F238E27FC236}">
                <a16:creationId xmlns:a16="http://schemas.microsoft.com/office/drawing/2014/main" id="{8632699B-8EBC-4C53-AF9E-7060045325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49440" y="3098808"/>
            <a:ext cx="3931920" cy="2183035"/>
          </a:xfrm>
          <a:prstGeom prst="roundRect">
            <a:avLst>
              <a:gd name="adj" fmla="val 4305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44119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3460">
        <p:fade/>
      </p:transition>
    </mc:Choice>
    <mc:Fallback>
      <p:transition advTm="346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" presetClass="entr" presetSubtype="4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8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decel="5000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5000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ecel="5000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0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ecel="5000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ecel="5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ecel="5000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0"/>
                                        <p:tgtEl>
                                          <p:spTgt spid="9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9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9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decel="5000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decel="5000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decel="5000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ecel="5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62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900" grpId="0" animBg="1"/>
      <p:bldP spid="90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7A1D82D-23EA-4A2A-A5CC-4E1ECAE48247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5B5C87-87B6-4544-AB66-68A68CB51287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D02BF9-28BF-44B1-966B-27D25B17630D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WHY KITOPIA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19A660-3686-42DC-8670-E039C6FCDEC3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不止是工具箱，而是可高度自定义的生产力平台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311427-4EC4-42FF-A028-440E36DDEFC4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02  /  Kitopia</a:t>
            </a:r>
            <a:endParaRPr sz="9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21FE9A1-97D7-4A05-A80A-ADEA5C05AB25}"/>
              </a:ext>
            </a:extLst>
          </p:cNvPr>
          <p:cNvSpPr>
            <a:spLocks noGrp="1"/>
          </p:cNvSpPr>
          <p:nvPr/>
        </p:nvSpPr>
        <p:spPr>
          <a:xfrm>
            <a:off x="640080" y="146304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像搭积木一样，自由组合来自不同插件的原子功能，创造完全符合你需求的自动化工作流。</a:t>
            </a:r>
            <a:endParaRPr sz="14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FCE847-6DCA-4BE8-A21C-FB6F02816A8A}"/>
              </a:ext>
            </a:extLst>
          </p:cNvPr>
          <p:cNvSpPr>
            <a:spLocks noGrp="1"/>
          </p:cNvSpPr>
          <p:nvPr/>
        </p:nvSpPr>
        <p:spPr>
          <a:xfrm>
            <a:off x="7589520" y="2103120"/>
            <a:ext cx="3977640" cy="786384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6754BA3-0A95-428F-B4A9-68CCEA7F5749}"/>
              </a:ext>
            </a:extLst>
          </p:cNvPr>
          <p:cNvSpPr>
            <a:spLocks noGrp="1"/>
          </p:cNvSpPr>
          <p:nvPr/>
        </p:nvSpPr>
        <p:spPr>
          <a:xfrm>
            <a:off x="7754112" y="221284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7C04059-E77C-4417-A8D5-E7924799FD07}"/>
              </a:ext>
            </a:extLst>
          </p:cNvPr>
          <p:cNvSpPr>
            <a:spLocks noGrp="1"/>
          </p:cNvSpPr>
          <p:nvPr/>
        </p:nvSpPr>
        <p:spPr>
          <a:xfrm>
            <a:off x="7754112" y="22128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开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FE3BDE1-6980-43BC-8BAB-0AB91EA95FEB}"/>
              </a:ext>
            </a:extLst>
          </p:cNvPr>
          <p:cNvSpPr>
            <a:spLocks noGrp="1"/>
          </p:cNvSpPr>
          <p:nvPr/>
        </p:nvSpPr>
        <p:spPr>
          <a:xfrm>
            <a:off x="8503920" y="2176272"/>
            <a:ext cx="2971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开源免费</a:t>
            </a:r>
            <a:endParaRPr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A69C086-8744-477D-9D09-26AC1D4FD498}"/>
              </a:ext>
            </a:extLst>
          </p:cNvPr>
          <p:cNvSpPr>
            <a:spLocks noGrp="1"/>
          </p:cNvSpPr>
          <p:nvPr/>
        </p:nvSpPr>
        <p:spPr>
          <a:xfrm>
            <a:off x="8503920" y="251460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代码透明，本地功能完全免费，社区共建</a:t>
            </a:r>
            <a:endParaRPr sz="11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ED900E9-9310-42B6-BA54-CBE668128220}"/>
              </a:ext>
            </a:extLst>
          </p:cNvPr>
          <p:cNvSpPr>
            <a:spLocks noGrp="1"/>
          </p:cNvSpPr>
          <p:nvPr/>
        </p:nvSpPr>
        <p:spPr>
          <a:xfrm>
            <a:off x="7589520" y="2990088"/>
            <a:ext cx="3977640" cy="786384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E03450F-ECF7-4FFB-8E8A-B87D11BB2AEF}"/>
              </a:ext>
            </a:extLst>
          </p:cNvPr>
          <p:cNvSpPr>
            <a:spLocks noGrp="1"/>
          </p:cNvSpPr>
          <p:nvPr/>
        </p:nvSpPr>
        <p:spPr>
          <a:xfrm>
            <a:off x="7754112" y="3099816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8A5CF6"/>
          </a:solidFill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6336925-45EB-4873-A60F-4C5406B21619}"/>
              </a:ext>
            </a:extLst>
          </p:cNvPr>
          <p:cNvSpPr>
            <a:spLocks noGrp="1"/>
          </p:cNvSpPr>
          <p:nvPr/>
        </p:nvSpPr>
        <p:spPr>
          <a:xfrm>
            <a:off x="7754112" y="3099816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插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8B9CE4F-AC15-414C-B3BD-5B5D83ABB704}"/>
              </a:ext>
            </a:extLst>
          </p:cNvPr>
          <p:cNvSpPr>
            <a:spLocks noGrp="1"/>
          </p:cNvSpPr>
          <p:nvPr/>
        </p:nvSpPr>
        <p:spPr>
          <a:xfrm>
            <a:off x="8503920" y="3063240"/>
            <a:ext cx="2971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高度插件化</a:t>
            </a:r>
            <a:endParaRPr sz="15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F69CCE7-3785-4042-BA56-4C0CF76C7B96}"/>
              </a:ext>
            </a:extLst>
          </p:cNvPr>
          <p:cNvSpPr>
            <a:spLocks noGrp="1"/>
          </p:cNvSpPr>
          <p:nvPr/>
        </p:nvSpPr>
        <p:spPr>
          <a:xfrm>
            <a:off x="8503920" y="3401568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模块化、按需加载，SDK 扩展</a:t>
            </a:r>
            <a:endParaRPr sz="11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60DF5EF-F401-4010-9D10-B33FE1BE862F}"/>
              </a:ext>
            </a:extLst>
          </p:cNvPr>
          <p:cNvSpPr>
            <a:spLocks noGrp="1"/>
          </p:cNvSpPr>
          <p:nvPr/>
        </p:nvSpPr>
        <p:spPr>
          <a:xfrm>
            <a:off x="7589520" y="3877056"/>
            <a:ext cx="3977640" cy="786384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B19E3DD4-2F18-4579-9115-29B302FDE8C3}"/>
              </a:ext>
            </a:extLst>
          </p:cNvPr>
          <p:cNvSpPr>
            <a:spLocks noGrp="1"/>
          </p:cNvSpPr>
          <p:nvPr/>
        </p:nvSpPr>
        <p:spPr>
          <a:xfrm>
            <a:off x="7754112" y="398678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E8A7E"/>
          </a:solidFill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82F6D2-68DD-4BD5-B5BB-B53BF49CCCE3}"/>
              </a:ext>
            </a:extLst>
          </p:cNvPr>
          <p:cNvSpPr>
            <a:spLocks noGrp="1"/>
          </p:cNvSpPr>
          <p:nvPr/>
        </p:nvSpPr>
        <p:spPr>
          <a:xfrm>
            <a:off x="7754112" y="398678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节</a:t>
            </a:r>
            <a:endParaRPr sz="16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2B33B92-6498-4ECE-A5DE-C1E6A7DC8A18}"/>
              </a:ext>
            </a:extLst>
          </p:cNvPr>
          <p:cNvSpPr>
            <a:spLocks noGrp="1"/>
          </p:cNvSpPr>
          <p:nvPr/>
        </p:nvSpPr>
        <p:spPr>
          <a:xfrm>
            <a:off x="8503920" y="3950208"/>
            <a:ext cx="2971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节点化编程</a:t>
            </a:r>
            <a:endParaRPr sz="15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0E5B180-F910-4233-B311-1B30BF15CE84}"/>
              </a:ext>
            </a:extLst>
          </p:cNvPr>
          <p:cNvSpPr>
            <a:spLocks noGrp="1"/>
          </p:cNvSpPr>
          <p:nvPr/>
        </p:nvSpPr>
        <p:spPr>
          <a:xfrm>
            <a:off x="8503920" y="4288536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可视化连线，定制你的专属「情景」</a:t>
            </a:r>
            <a:endParaRPr sz="11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7D8C15C0-172D-4F02-AC61-2A579D02495D}"/>
              </a:ext>
            </a:extLst>
          </p:cNvPr>
          <p:cNvSpPr>
            <a:spLocks noGrp="1"/>
          </p:cNvSpPr>
          <p:nvPr/>
        </p:nvSpPr>
        <p:spPr>
          <a:xfrm>
            <a:off x="7589520" y="4764024"/>
            <a:ext cx="3977640" cy="786384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A5E30B6-A7A9-4908-A5E0-C1C15CB2661F}"/>
              </a:ext>
            </a:extLst>
          </p:cNvPr>
          <p:cNvSpPr>
            <a:spLocks noGrp="1"/>
          </p:cNvSpPr>
          <p:nvPr/>
        </p:nvSpPr>
        <p:spPr>
          <a:xfrm>
            <a:off x="7754112" y="48737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9480F"/>
          </a:solidFill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9A2D42D-2FB3-493F-9A50-222B2334A7C7}"/>
              </a:ext>
            </a:extLst>
          </p:cNvPr>
          <p:cNvSpPr>
            <a:spLocks noGrp="1"/>
          </p:cNvSpPr>
          <p:nvPr/>
        </p:nvSpPr>
        <p:spPr>
          <a:xfrm>
            <a:off x="7754112" y="487375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跨</a:t>
            </a:r>
            <a:endParaRPr sz="16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EAD5863-0047-4E65-8B49-9D1C5DED2BBF}"/>
              </a:ext>
            </a:extLst>
          </p:cNvPr>
          <p:cNvSpPr>
            <a:spLocks noGrp="1"/>
          </p:cNvSpPr>
          <p:nvPr/>
        </p:nvSpPr>
        <p:spPr>
          <a:xfrm>
            <a:off x="8503920" y="4837176"/>
            <a:ext cx="2971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跨平台架构</a:t>
            </a:r>
            <a:endParaRPr sz="15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624180B-37D4-4D45-A254-8469F0DEE201}"/>
              </a:ext>
            </a:extLst>
          </p:cNvPr>
          <p:cNvSpPr>
            <a:spLocks noGrp="1"/>
          </p:cNvSpPr>
          <p:nvPr/>
        </p:nvSpPr>
        <p:spPr>
          <a:xfrm>
            <a:off x="8503920" y="5175504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基于 Avalonia，优先支持 Windows</a:t>
            </a:r>
            <a:endParaRPr sz="1100"/>
          </a:p>
        </p:txBody>
      </p:sp>
      <p:pic>
        <p:nvPicPr>
          <p:cNvPr id="900" name="Kitopia screenshot overview">
            <a:extLst>
              <a:ext uri="{FF2B5EF4-FFF2-40B4-BE49-F238E27FC236}">
                <a16:creationId xmlns:a16="http://schemas.microsoft.com/office/drawing/2014/main" id="{DD198F93-CCFF-4732-BC96-478DE209E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8548" y="2103120"/>
            <a:ext cx="6478183" cy="3455031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0350390"/>
      </p:ext>
    </p:extLst>
  </p:cSld>
  <p:clrMapOvr>
    <a:masterClrMapping/>
  </p:clrMapOvr>
  <p:transition advTm="292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ecel="5000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ecel="5000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decel="5000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decel="5000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decel="5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decel="5000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" decel="5000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" decel="5000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1" decel="5000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1" decel="5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1" decel="5000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decel="5000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1" decel="5000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1" decel="5000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1" decel="5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1" decel="5000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1" decel="5000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1" decel="5000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1" decel="5000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1" decel="5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1" decel="5000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1" decel="5000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1" decel="5000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1" decel="5000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1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1" decel="5000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90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66D939-809F-4B51-A723-D5C0D33E2A76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7CE1D-33F3-4E33-9F61-5F56B057A706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068A4E1-96B2-4BB4-B61E-CAFB079BF7D6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LAUNCHER · Alt + Space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468F649-CAF1-4D4F-8240-3396F83CC508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全能搜索框：不仅是启动器，更是你的系统控制台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1E9F1C-2DA6-40AC-B568-C1EA80E0E9EC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03  /  Kitopia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2533133-825C-43E0-B811-A91998BAFCDF}"/>
              </a:ext>
            </a:extLst>
          </p:cNvPr>
          <p:cNvSpPr>
            <a:spLocks noGrp="1"/>
          </p:cNvSpPr>
          <p:nvPr/>
        </p:nvSpPr>
        <p:spPr>
          <a:xfrm>
            <a:off x="640080" y="185623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29CC175-E6BA-4785-A57C-86B435FE3F8A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快速启动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B32BF45-2CA7-4A7B-A6C9-74D9D3212E14}"/>
              </a:ext>
            </a:extLst>
          </p:cNvPr>
          <p:cNvSpPr>
            <a:spLocks noGrp="1"/>
          </p:cNvSpPr>
          <p:nvPr/>
        </p:nvSpPr>
        <p:spPr>
          <a:xfrm>
            <a:off x="868680" y="21488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常规软件、UWP 应用、文件/文件夹，支持管理员运行</a:t>
            </a:r>
            <a:endParaRPr sz="12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F566EB6-ABCA-49EF-9C17-B4AB082099AB}"/>
              </a:ext>
            </a:extLst>
          </p:cNvPr>
          <p:cNvSpPr>
            <a:spLocks noGrp="1"/>
          </p:cNvSpPr>
          <p:nvPr/>
        </p:nvSpPr>
        <p:spPr>
          <a:xfrm>
            <a:off x="640080" y="27249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33A325D-258E-4152-83F8-BCA6AFF44C69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Everything </a:t>
            </a:r>
            <a:r>
              <a:rPr lang="ja-JP" altLang="en-US"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集成 </a:t>
            </a:r>
            <a:r>
              <a:rPr lang="en-US" altLang="ja-JP"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en-US"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RAG </a:t>
            </a:r>
            <a:r>
              <a:rPr lang="ja-JP" altLang="en-US"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语义搜索</a:t>
            </a:r>
            <a:endParaRPr sz="16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78143FE-94F8-4F6B-B2D8-4B435DBA624D}"/>
              </a:ext>
            </a:extLst>
          </p:cNvPr>
          <p:cNvSpPr>
            <a:spLocks noGrp="1"/>
          </p:cNvSpPr>
          <p:nvPr/>
        </p:nvSpPr>
        <p:spPr>
          <a:xfrm>
            <a:off x="868680" y="301752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ja-JP" altLang="en-US" sz="1250" dirty="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毫秒级搜索全盘文件；用自然语言按含义找到相关</a:t>
            </a:r>
            <a:r>
              <a:rPr lang="zh-CN" altLang="en-US" sz="1250" dirty="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图片与文件</a:t>
            </a:r>
            <a:endParaRPr sz="12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0A26C6F-D07F-4105-9324-8A5DA5AC7744}"/>
              </a:ext>
            </a:extLst>
          </p:cNvPr>
          <p:cNvSpPr>
            <a:spLocks noGrp="1"/>
          </p:cNvSpPr>
          <p:nvPr/>
        </p:nvSpPr>
        <p:spPr>
          <a:xfrm>
            <a:off x="640080" y="359359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95A0CBD-7FD3-49FC-90BA-8F1A1D20903F}"/>
              </a:ext>
            </a:extLst>
          </p:cNvPr>
          <p:cNvSpPr>
            <a:spLocks noGrp="1"/>
          </p:cNvSpPr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剪贴板智能</a:t>
            </a:r>
            <a:endParaRPr sz="16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B23B7C2-8A89-4202-88A7-1A727D0D6F4E}"/>
              </a:ext>
            </a:extLst>
          </p:cNvPr>
          <p:cNvSpPr>
            <a:spLocks noGrp="1"/>
          </p:cNvSpPr>
          <p:nvPr/>
        </p:nvSpPr>
        <p:spPr>
          <a:xfrm>
            <a:off x="868680" y="388620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自动识别剪贴板中的路径等内容，一键打开</a:t>
            </a:r>
            <a:endParaRPr sz="12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0032F00-4726-47A9-8EC0-F0344635837A}"/>
              </a:ext>
            </a:extLst>
          </p:cNvPr>
          <p:cNvSpPr>
            <a:spLocks noGrp="1"/>
          </p:cNvSpPr>
          <p:nvPr/>
        </p:nvSpPr>
        <p:spPr>
          <a:xfrm>
            <a:off x="640080" y="446227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9D807B9-4DC8-470C-B1C9-9A918529C0FE}"/>
              </a:ext>
            </a:extLst>
          </p:cNvPr>
          <p:cNvSpPr>
            <a:spLocks noGrp="1"/>
          </p:cNvSpPr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网页与命令</a:t>
            </a:r>
            <a:endParaRPr sz="16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5C1950-819E-4F5A-B553-57E37F1D89AF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直达网页、搜索引擎，或直接运行 Shell 命令</a:t>
            </a:r>
            <a:endParaRPr sz="125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E2F893C-030F-4262-B686-4CE0F89114B6}"/>
              </a:ext>
            </a:extLst>
          </p:cNvPr>
          <p:cNvSpPr>
            <a:spLocks noGrp="1"/>
          </p:cNvSpPr>
          <p:nvPr/>
        </p:nvSpPr>
        <p:spPr>
          <a:xfrm>
            <a:off x="640080" y="533095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8F40B06-8D25-416D-848C-DAF40330E0C8}"/>
              </a:ext>
            </a:extLst>
          </p:cNvPr>
          <p:cNvSpPr>
            <a:spLocks noGrp="1"/>
          </p:cNvSpPr>
          <p:nvPr/>
        </p:nvSpPr>
        <p:spPr>
          <a:xfrm>
            <a:off x="86868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实用小工具</a:t>
            </a:r>
            <a:endParaRPr sz="16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3E9DAA7-F443-4123-92D4-950BAE1B83C2}"/>
              </a:ext>
            </a:extLst>
          </p:cNvPr>
          <p:cNvSpPr>
            <a:spLocks noGrp="1"/>
          </p:cNvSpPr>
          <p:nvPr/>
        </p:nvSpPr>
        <p:spPr>
          <a:xfrm>
            <a:off x="868680" y="562356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数学计算、剪贴板图片保存、翻译等</a:t>
            </a:r>
            <a:endParaRPr sz="1250"/>
          </a:p>
        </p:txBody>
      </p:sp>
      <p:pic>
        <p:nvPicPr>
          <p:cNvPr id="900" name="Kitopia screenshot searchpdf">
            <a:extLst>
              <a:ext uri="{FF2B5EF4-FFF2-40B4-BE49-F238E27FC236}">
                <a16:creationId xmlns:a16="http://schemas.microsoft.com/office/drawing/2014/main" id="{0C11AFA7-D4DB-49D8-B699-2F3EA5B464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86600" y="1325880"/>
            <a:ext cx="4480560" cy="3584448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search">
            <a:extLst>
              <a:ext uri="{FF2B5EF4-FFF2-40B4-BE49-F238E27FC236}">
                <a16:creationId xmlns:a16="http://schemas.microsoft.com/office/drawing/2014/main" id="{98A1AFC7-C7DA-4C8D-8F23-BC78DC8DDC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43600" y="3749040"/>
            <a:ext cx="4206240" cy="2333412"/>
          </a:xfrm>
          <a:prstGeom prst="roundRect">
            <a:avLst>
              <a:gd name="adj" fmla="val 4305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6318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3140">
        <p:fade/>
      </p:transition>
    </mc:Choice>
    <mc:Fallback>
      <p:transition advTm="314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9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1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627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8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 fill="hold"/>
                                        <p:tgtEl>
                                          <p:spTgt spid="9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91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96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2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083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97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900" grpId="0" animBg="1"/>
      <p:bldP spid="90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F1012BE-6E2F-4837-ADF1-231EBB4F20DB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02FC436-2AA1-47A9-9791-03C12CCCB925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0D1EB8-8888-4EC8-86ED-186E19B7D669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SCREENSHOT · Ctrl + Alt + Q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DE23AF-21F5-4411-AA6D-05CF5142BF13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极致截图：支持 HDR 与长截图的专业级工具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BC9A5C-E015-4293-9541-1EFF5FC2A8D6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04  /  Kitopia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78F9826-F140-4E1C-B2AB-AAB422FFA65F}"/>
              </a:ext>
            </a:extLst>
          </p:cNvPr>
          <p:cNvSpPr>
            <a:spLocks noGrp="1"/>
          </p:cNvSpPr>
          <p:nvPr/>
        </p:nvSpPr>
        <p:spPr>
          <a:xfrm>
            <a:off x="640080" y="1783080"/>
            <a:ext cx="2331720" cy="123444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20823E5-FFCD-4CC2-A62E-4AECCE2C02CC}"/>
              </a:ext>
            </a:extLst>
          </p:cNvPr>
          <p:cNvSpPr>
            <a:spLocks noGrp="1"/>
          </p:cNvSpPr>
          <p:nvPr/>
        </p:nvSpPr>
        <p:spPr>
          <a:xfrm>
            <a:off x="822960" y="21122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DF77B4D-5CCB-4CE3-B257-9327C91BDD0F}"/>
              </a:ext>
            </a:extLst>
          </p:cNvPr>
          <p:cNvSpPr>
            <a:spLocks noGrp="1"/>
          </p:cNvSpPr>
          <p:nvPr/>
        </p:nvSpPr>
        <p:spPr>
          <a:xfrm>
            <a:off x="822960" y="21122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</a:t>
            </a:r>
            <a:endParaRPr sz="16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D94A7B0-88EF-424A-9741-0BCE27FF375F}"/>
              </a:ext>
            </a:extLst>
          </p:cNvPr>
          <p:cNvSpPr>
            <a:spLocks noGrp="1"/>
          </p:cNvSpPr>
          <p:nvPr/>
        </p:nvSpPr>
        <p:spPr>
          <a:xfrm>
            <a:off x="1508760" y="198424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HDR 支持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21F9D70-6F68-46DD-9921-EE8461F38488}"/>
              </a:ext>
            </a:extLst>
          </p:cNvPr>
          <p:cNvSpPr>
            <a:spLocks noGrp="1"/>
          </p:cNvSpPr>
          <p:nvPr/>
        </p:nvSpPr>
        <p:spPr>
          <a:xfrm>
            <a:off x="1508760" y="235000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完美还原高动态范围画面，色彩不失真</a:t>
            </a:r>
            <a:endParaRPr sz="11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5F150F6-E3E4-4B98-893F-67A72517922E}"/>
              </a:ext>
            </a:extLst>
          </p:cNvPr>
          <p:cNvSpPr>
            <a:spLocks noGrp="1"/>
          </p:cNvSpPr>
          <p:nvPr/>
        </p:nvSpPr>
        <p:spPr>
          <a:xfrm>
            <a:off x="3108960" y="1783080"/>
            <a:ext cx="2331720" cy="123444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8F42935-B316-4DF6-B1D0-6C55B54A20F9}"/>
              </a:ext>
            </a:extLst>
          </p:cNvPr>
          <p:cNvSpPr>
            <a:spLocks noGrp="1"/>
          </p:cNvSpPr>
          <p:nvPr/>
        </p:nvSpPr>
        <p:spPr>
          <a:xfrm>
            <a:off x="3291840" y="21122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3C0B7D3-49B2-4514-ABA5-445FA372099B}"/>
              </a:ext>
            </a:extLst>
          </p:cNvPr>
          <p:cNvSpPr>
            <a:spLocks noGrp="1"/>
          </p:cNvSpPr>
          <p:nvPr/>
        </p:nvSpPr>
        <p:spPr>
          <a:xfrm>
            <a:off x="3291840" y="21122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</a:t>
            </a:r>
            <a:endParaRPr sz="16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BE071F2-0352-4EEF-9538-9BDB6A19BDFA}"/>
              </a:ext>
            </a:extLst>
          </p:cNvPr>
          <p:cNvSpPr>
            <a:spLocks noGrp="1"/>
          </p:cNvSpPr>
          <p:nvPr/>
        </p:nvSpPr>
        <p:spPr>
          <a:xfrm>
            <a:off x="3977640" y="198424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长截图</a:t>
            </a:r>
            <a:endParaRPr sz="16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57E0063-627A-4EE1-A15A-4B91C5857F66}"/>
              </a:ext>
            </a:extLst>
          </p:cNvPr>
          <p:cNvSpPr>
            <a:spLocks noGrp="1"/>
          </p:cNvSpPr>
          <p:nvPr/>
        </p:nvSpPr>
        <p:spPr>
          <a:xfrm>
            <a:off x="3977640" y="235000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支持窗口滚动截取</a:t>
            </a:r>
            <a:endParaRPr sz="11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08437DA-9AA0-4765-BEDD-1CCE743838B6}"/>
              </a:ext>
            </a:extLst>
          </p:cNvPr>
          <p:cNvSpPr>
            <a:spLocks noGrp="1"/>
          </p:cNvSpPr>
          <p:nvPr/>
        </p:nvSpPr>
        <p:spPr>
          <a:xfrm>
            <a:off x="640080" y="3154680"/>
            <a:ext cx="2331720" cy="123444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2D0B82-AAA7-47FB-9277-AD4971608C5B}"/>
              </a:ext>
            </a:extLst>
          </p:cNvPr>
          <p:cNvSpPr>
            <a:spLocks noGrp="1"/>
          </p:cNvSpPr>
          <p:nvPr/>
        </p:nvSpPr>
        <p:spPr>
          <a:xfrm>
            <a:off x="822960" y="34838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8A5CF6"/>
          </a:solidFill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17DFDD5-1A83-41B3-9559-060C6A05E158}"/>
              </a:ext>
            </a:extLst>
          </p:cNvPr>
          <p:cNvSpPr>
            <a:spLocks noGrp="1"/>
          </p:cNvSpPr>
          <p:nvPr/>
        </p:nvSpPr>
        <p:spPr>
          <a:xfrm>
            <a:off x="822960" y="34838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</a:t>
            </a:r>
            <a:endParaRPr sz="16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9EF6142-C93D-4E81-B694-2F215D5CB0D9}"/>
              </a:ext>
            </a:extLst>
          </p:cNvPr>
          <p:cNvSpPr>
            <a:spLocks noGrp="1"/>
          </p:cNvSpPr>
          <p:nvPr/>
        </p:nvSpPr>
        <p:spPr>
          <a:xfrm>
            <a:off x="1508760" y="335584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丰富标注</a:t>
            </a:r>
            <a:endParaRPr sz="16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413EC91-EA4E-4F08-9E36-5031F2E18F30}"/>
              </a:ext>
            </a:extLst>
          </p:cNvPr>
          <p:cNvSpPr>
            <a:spLocks noGrp="1"/>
          </p:cNvSpPr>
          <p:nvPr/>
        </p:nvSpPr>
        <p:spPr>
          <a:xfrm>
            <a:off x="1508760" y="372160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矩形、圆形、箭头、画笔、文字、马赛克</a:t>
            </a:r>
            <a:endParaRPr sz="115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123BF1CB-ABCD-4710-A5C0-B0BCCD6EC433}"/>
              </a:ext>
            </a:extLst>
          </p:cNvPr>
          <p:cNvSpPr>
            <a:spLocks noGrp="1"/>
          </p:cNvSpPr>
          <p:nvPr/>
        </p:nvSpPr>
        <p:spPr>
          <a:xfrm>
            <a:off x="3108960" y="3154680"/>
            <a:ext cx="2331720" cy="123444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3B9D3171-5CB8-4237-983A-2974801B4E5B}"/>
              </a:ext>
            </a:extLst>
          </p:cNvPr>
          <p:cNvSpPr>
            <a:spLocks noGrp="1"/>
          </p:cNvSpPr>
          <p:nvPr/>
        </p:nvSpPr>
        <p:spPr>
          <a:xfrm>
            <a:off x="3291840" y="34838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8A5CF6"/>
          </a:solidFill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1DE1C6C-CB27-4DE8-BD6F-F744554887E7}"/>
              </a:ext>
            </a:extLst>
          </p:cNvPr>
          <p:cNvSpPr>
            <a:spLocks noGrp="1"/>
          </p:cNvSpPr>
          <p:nvPr/>
        </p:nvSpPr>
        <p:spPr>
          <a:xfrm>
            <a:off x="3291840" y="34838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</a:t>
            </a:r>
            <a:endParaRPr sz="16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4860241E-02B0-4235-8D26-2043E128D653}"/>
              </a:ext>
            </a:extLst>
          </p:cNvPr>
          <p:cNvSpPr>
            <a:spLocks noGrp="1"/>
          </p:cNvSpPr>
          <p:nvPr/>
        </p:nvSpPr>
        <p:spPr>
          <a:xfrm>
            <a:off x="3977640" y="335584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OCR 识别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6009329-3B7C-4EC1-B8B0-ECBA32C4DA5E}"/>
              </a:ext>
            </a:extLst>
          </p:cNvPr>
          <p:cNvSpPr>
            <a:spLocks noGrp="1"/>
          </p:cNvSpPr>
          <p:nvPr/>
        </p:nvSpPr>
        <p:spPr>
          <a:xfrm>
            <a:off x="3977640" y="372160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截图即提取文字</a:t>
            </a:r>
            <a:endParaRPr sz="115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4A3B220-30C5-41D1-84C0-BB11675E1A33}"/>
              </a:ext>
            </a:extLst>
          </p:cNvPr>
          <p:cNvSpPr>
            <a:spLocks noGrp="1"/>
          </p:cNvSpPr>
          <p:nvPr/>
        </p:nvSpPr>
        <p:spPr>
          <a:xfrm>
            <a:off x="640080" y="4526280"/>
            <a:ext cx="2331720" cy="123444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5E49CA7-6185-42D2-8A19-6DFB6BA43969}"/>
              </a:ext>
            </a:extLst>
          </p:cNvPr>
          <p:cNvSpPr>
            <a:spLocks noGrp="1"/>
          </p:cNvSpPr>
          <p:nvPr/>
        </p:nvSpPr>
        <p:spPr>
          <a:xfrm>
            <a:off x="822960" y="48554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E8A7E"/>
          </a:solidFill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C5210EB-889E-42BE-AE92-8DC4A950EE62}"/>
              </a:ext>
            </a:extLst>
          </p:cNvPr>
          <p:cNvSpPr>
            <a:spLocks noGrp="1"/>
          </p:cNvSpPr>
          <p:nvPr/>
        </p:nvSpPr>
        <p:spPr>
          <a:xfrm>
            <a:off x="822960" y="48554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码</a:t>
            </a:r>
            <a:endParaRPr sz="16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E095864-5F62-496C-8598-2A51425289C2}"/>
              </a:ext>
            </a:extLst>
          </p:cNvPr>
          <p:cNvSpPr>
            <a:spLocks noGrp="1"/>
          </p:cNvSpPr>
          <p:nvPr/>
        </p:nvSpPr>
        <p:spPr>
          <a:xfrm>
            <a:off x="1508760" y="472744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二维码识别</a:t>
            </a:r>
            <a:endParaRPr sz="16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C1EF2C8-7867-481B-B9A1-19558DB7B6FB}"/>
              </a:ext>
            </a:extLst>
          </p:cNvPr>
          <p:cNvSpPr>
            <a:spLocks noGrp="1"/>
          </p:cNvSpPr>
          <p:nvPr/>
        </p:nvSpPr>
        <p:spPr>
          <a:xfrm>
            <a:off x="1508760" y="509320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自动识别图中二维码</a:t>
            </a:r>
            <a:endParaRPr sz="11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A13B3E01-A04D-4A0A-AF8E-855926BB591C}"/>
              </a:ext>
            </a:extLst>
          </p:cNvPr>
          <p:cNvSpPr>
            <a:spLocks noGrp="1"/>
          </p:cNvSpPr>
          <p:nvPr/>
        </p:nvSpPr>
        <p:spPr>
          <a:xfrm>
            <a:off x="3108960" y="4526280"/>
            <a:ext cx="2331720" cy="123444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64CF1AC4-A012-4481-9CC5-2D920667544D}"/>
              </a:ext>
            </a:extLst>
          </p:cNvPr>
          <p:cNvSpPr>
            <a:spLocks noGrp="1"/>
          </p:cNvSpPr>
          <p:nvPr/>
        </p:nvSpPr>
        <p:spPr>
          <a:xfrm>
            <a:off x="3291840" y="485546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E8A7E"/>
          </a:solidFill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B5BF2CA2-1BF9-4FFC-9C43-B1812916F033}"/>
              </a:ext>
            </a:extLst>
          </p:cNvPr>
          <p:cNvSpPr>
            <a:spLocks noGrp="1"/>
          </p:cNvSpPr>
          <p:nvPr/>
        </p:nvSpPr>
        <p:spPr>
          <a:xfrm>
            <a:off x="3291840" y="48554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译</a:t>
            </a:r>
            <a:endParaRPr sz="16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BDB967C-686C-4FC1-83EB-D63DD9616FE4}"/>
              </a:ext>
            </a:extLst>
          </p:cNvPr>
          <p:cNvSpPr>
            <a:spLocks noGrp="1"/>
          </p:cNvSpPr>
          <p:nvPr/>
        </p:nvSpPr>
        <p:spPr>
          <a:xfrm>
            <a:off x="3977640" y="472744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截图翻译</a:t>
            </a:r>
            <a:endParaRPr sz="160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808423-1898-4E68-93D0-ED1E3A28E694}"/>
              </a:ext>
            </a:extLst>
          </p:cNvPr>
          <p:cNvSpPr>
            <a:spLocks noGrp="1"/>
          </p:cNvSpPr>
          <p:nvPr/>
        </p:nvSpPr>
        <p:spPr>
          <a:xfrm>
            <a:off x="3977640" y="509320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翻译截图中的文本</a:t>
            </a:r>
            <a:endParaRPr sz="11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BDEBCB8B-7214-41E1-A681-5150E8039F14}"/>
              </a:ext>
            </a:extLst>
          </p:cNvPr>
          <p:cNvSpPr>
            <a:spLocks noGrp="1"/>
          </p:cNvSpPr>
          <p:nvPr/>
        </p:nvSpPr>
        <p:spPr>
          <a:xfrm>
            <a:off x="5760720" y="4846320"/>
            <a:ext cx="5806440" cy="914400"/>
          </a:xfrm>
          <a:prstGeom prst="roundRect">
            <a:avLst>
              <a:gd name="adj" fmla="val 3380"/>
            </a:avLst>
          </a:prstGeom>
          <a:solidFill>
            <a:srgbClr val="0B1A2E"/>
          </a:solidFill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BC21806-175C-481B-B5EA-FC9CB378E628}"/>
              </a:ext>
            </a:extLst>
          </p:cNvPr>
          <p:cNvSpPr>
            <a:spLocks noGrp="1"/>
          </p:cNvSpPr>
          <p:nvPr/>
        </p:nvSpPr>
        <p:spPr>
          <a:xfrm>
            <a:off x="6035040" y="507492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贴图 Pin</a:t>
            </a:r>
            <a:endParaRPr sz="20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55D0482-A7DD-46B3-A660-B7146B4D059A}"/>
              </a:ext>
            </a:extLst>
          </p:cNvPr>
          <p:cNvSpPr>
            <a:spLocks noGrp="1"/>
          </p:cNvSpPr>
          <p:nvPr/>
        </p:nvSpPr>
        <p:spPr>
          <a:xfrm>
            <a:off x="7589520" y="4956048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B9C7DA"/>
                </a:solidFill>
                <a:latin typeface="Microsoft YaHei"/>
                <a:ea typeface="Microsoft YaHei"/>
                <a:cs typeface="Microsoft YaHei"/>
              </a:rPr>
              <a:t>将截图置顶显示在屏幕上，对照、参考更顺手</a:t>
            </a:r>
            <a:endParaRPr sz="120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7A66EB6-57C3-4841-B507-D9FE04451423}"/>
              </a:ext>
            </a:extLst>
          </p:cNvPr>
          <p:cNvSpPr>
            <a:spLocks noGrp="1"/>
          </p:cNvSpPr>
          <p:nvPr/>
        </p:nvSpPr>
        <p:spPr>
          <a:xfrm>
            <a:off x="7589520" y="5321808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4CC2FF"/>
                </a:solidFill>
                <a:latin typeface="Microsoft YaHei"/>
                <a:ea typeface="Microsoft YaHei"/>
                <a:cs typeface="Microsoft YaHei"/>
              </a:rPr>
              <a:t>文件速览：资源管理器选中文件后按空格</a:t>
            </a:r>
            <a:endParaRPr sz="1050"/>
          </a:p>
        </p:txBody>
      </p:sp>
      <p:pic>
        <p:nvPicPr>
          <p:cNvPr id="950" name="Kitopia screenshot capture">
            <a:extLst>
              <a:ext uri="{FF2B5EF4-FFF2-40B4-BE49-F238E27FC236}">
                <a16:creationId xmlns:a16="http://schemas.microsoft.com/office/drawing/2014/main" id="{9C131CFA-33E3-49B6-B608-56E7E34DD0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27227" y="1783080"/>
            <a:ext cx="5273426" cy="2812494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61958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3120">
        <p:fade/>
      </p:transition>
    </mc:Choice>
    <mc:Fallback>
      <p:transition advTm="312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decel="5000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decel="5000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8" decel="5000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5000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8" decel="5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1000" fill="hold"/>
                                        <p:tgtEl>
                                          <p:spTgt spid="9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9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8" decel="5000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decel="5000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8" decel="5000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8" decel="5000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8" decel="5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8" decel="5000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8" decel="5000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8" decel="5000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8" decel="5000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8" decel="5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8" decel="5000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2" presetClass="entr" presetSubtype="8" decel="5000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8" decel="5000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8" decel="5000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8" decel="5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8" decel="5000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8" decel="5000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5000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8" decel="5000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8" decel="5000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2" presetClass="entr" presetSubtype="8" decel="5000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8" decel="5000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2" presetClass="entr" presetSubtype="8" decel="5000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8" decel="5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8" decel="5000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8" decel="5000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2" presetClass="entr" presetSubtype="8" decel="5000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8" decel="5000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2" presetClass="entr" presetSubtype="8" decel="5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8" decel="5000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8" decel="5000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2" presetClass="entr" presetSubtype="8" decel="5000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2" presetClass="entr" presetSubtype="8" decel="5000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0-#ppt_w/2)+0.14416*(#ppt_x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0-#ppt_w/2)+0.27304*(#ppt_x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0-#ppt_w/2)+0.38576*(#ppt_x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0-#ppt_w/2)+0.48262*(#ppt_x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0-#ppt_w/2)+0.56479*(#ppt_x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0-#ppt_w/2)+0.63397*(#ppt_x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0-#ppt_w/2)+0.69198*(#ppt_x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0-#ppt_w/2)+0.74056*(#ppt_x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0-#ppt_w/2)+0.78128*(#ppt_x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0-#ppt_w/2)+0.81547*(#ppt_x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0-#ppt_w/2)+0.84426*(#ppt_x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0-#ppt_w/2)+0.86854*(#ppt_x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0-#ppt_w/2)+0.88909*(#ppt_x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0-#ppt_w/2)+0.90650*(#ppt_x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0-#ppt_w/2)+0.92128*(#ppt_x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0-#ppt_w/2)+0.93384*(#ppt_x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0-#ppt_w/2)+0.94453*(#ppt_x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0-#ppt_w/2)+0.95363*(#ppt_x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0-#ppt_w/2)+0.96137*(#ppt_x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0-#ppt_w/2)+0.96795*(#ppt_x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0-#ppt_w/2)+0.97356*(#ppt_x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0-#ppt_w/2)+0.97848*(#ppt_x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0-#ppt_w/2)+0.98283*(#ppt_x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0-#ppt_w/2)+0.98663*(#ppt_x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0-#ppt_w/2)+0.98993*(#ppt_x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0-#ppt_w/2)+0.99274*(#ppt_x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0-#ppt_w/2)+0.99510*(#ppt_x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0-#ppt_w/2)+0.99701*(#ppt_x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0-#ppt_w/2)+0.99848*(#ppt_x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0-#ppt_w/2)+0.99951*(#ppt_x)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3" grpId="0" animBg="1"/>
      <p:bldP spid="95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E367C57-9256-446E-B721-D15EA4A8DEF5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C00D5A-C1A8-43D2-A364-3F2A21052540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7F20A56-E9AC-4C1D-92EE-981D88C0C169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SCENES · Kitopia 的灵魂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81241C7-DD90-4161-8734-DF0366A218EF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节点化情景：无需写代码，拖拽连线即可构建自动化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A1451B3-9C62-4408-B40C-D1EF5611D1AF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05  /  Kitopia</a:t>
            </a:r>
            <a:endParaRPr sz="9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366D91A-BF72-4751-A342-BDE559679E28}"/>
              </a:ext>
            </a:extLst>
          </p:cNvPr>
          <p:cNvSpPr>
            <a:spLocks noGrp="1"/>
          </p:cNvSpPr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类似 Unreal Engine 蓝图系统 —— 调用软件自身或插件提供的功能，组合出你的专属工作流。</a:t>
            </a:r>
            <a:endParaRPr sz="140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9E43B4A6-1E36-4210-AE77-CA170E78E932}"/>
              </a:ext>
            </a:extLst>
          </p:cNvPr>
          <p:cNvSpPr>
            <a:spLocks noGrp="1"/>
          </p:cNvSpPr>
          <p:nvPr/>
        </p:nvSpPr>
        <p:spPr>
          <a:xfrm>
            <a:off x="640080" y="53035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E6339BC9-E80E-4F8F-8EEF-A1D710F5777F}"/>
              </a:ext>
            </a:extLst>
          </p:cNvPr>
          <p:cNvSpPr>
            <a:spLocks noGrp="1"/>
          </p:cNvSpPr>
          <p:nvPr/>
        </p:nvSpPr>
        <p:spPr>
          <a:xfrm>
            <a:off x="914400" y="530352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可视化编辑</a:t>
            </a:r>
            <a:endParaRPr sz="1400"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9CEF0BA-1C2F-4694-A687-7C209FEAD8B0}"/>
              </a:ext>
            </a:extLst>
          </p:cNvPr>
          <p:cNvSpPr>
            <a:spLocks noGrp="1"/>
          </p:cNvSpPr>
          <p:nvPr/>
        </p:nvSpPr>
        <p:spPr>
          <a:xfrm>
            <a:off x="2240280" y="5303520"/>
            <a:ext cx="18288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直观的逻辑编排</a:t>
            </a:r>
            <a:endParaRPr sz="115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794B5114-DA94-48EF-B08F-A51689A2679C}"/>
              </a:ext>
            </a:extLst>
          </p:cNvPr>
          <p:cNvSpPr>
            <a:spLocks noGrp="1"/>
          </p:cNvSpPr>
          <p:nvPr/>
        </p:nvSpPr>
        <p:spPr>
          <a:xfrm>
            <a:off x="4343400" y="53035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9007059F-6380-41CA-8E64-EB69225D365A}"/>
              </a:ext>
            </a:extLst>
          </p:cNvPr>
          <p:cNvSpPr>
            <a:spLocks noGrp="1"/>
          </p:cNvSpPr>
          <p:nvPr/>
        </p:nvSpPr>
        <p:spPr>
          <a:xfrm>
            <a:off x="4617720" y="530352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无限可能</a:t>
            </a:r>
            <a:endParaRPr sz="140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A9292E4E-3389-48E8-B22F-80DE7ED80F96}"/>
              </a:ext>
            </a:extLst>
          </p:cNvPr>
          <p:cNvSpPr>
            <a:spLocks noGrp="1"/>
          </p:cNvSpPr>
          <p:nvPr/>
        </p:nvSpPr>
        <p:spPr>
          <a:xfrm>
            <a:off x="5943600" y="5303520"/>
            <a:ext cx="18288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组合不同插件能力</a:t>
            </a:r>
            <a:endParaRPr sz="1150"/>
          </a:p>
        </p:txBody>
      </p:sp>
      <p:sp>
        <p:nvSpPr>
          <p:cNvPr id="76" name="Shape 74">
            <a:extLst>
              <a:ext uri="{FF2B5EF4-FFF2-40B4-BE49-F238E27FC236}">
                <a16:creationId xmlns:a16="http://schemas.microsoft.com/office/drawing/2014/main" id="{7616F02A-C4C8-4B72-A9E5-22B1404D4D0E}"/>
              </a:ext>
            </a:extLst>
          </p:cNvPr>
          <p:cNvSpPr>
            <a:spLocks noGrp="1"/>
          </p:cNvSpPr>
          <p:nvPr/>
        </p:nvSpPr>
        <p:spPr>
          <a:xfrm>
            <a:off x="8046720" y="53035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B7E2A130-73C9-47E4-A2A9-2A1E7216290C}"/>
              </a:ext>
            </a:extLst>
          </p:cNvPr>
          <p:cNvSpPr>
            <a:spLocks noGrp="1"/>
          </p:cNvSpPr>
          <p:nvPr/>
        </p:nvSpPr>
        <p:spPr>
          <a:xfrm>
            <a:off x="8321040" y="5303520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情景市场</a:t>
            </a:r>
            <a:endParaRPr sz="1400"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CB6B018D-2186-48AD-BAFE-BCE7740264D5}"/>
              </a:ext>
            </a:extLst>
          </p:cNvPr>
          <p:cNvSpPr>
            <a:spLocks noGrp="1"/>
          </p:cNvSpPr>
          <p:nvPr/>
        </p:nvSpPr>
        <p:spPr>
          <a:xfrm>
            <a:off x="9646920" y="5303520"/>
            <a:ext cx="18288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上传、下载、一键导入他人情景</a:t>
            </a:r>
            <a:endParaRPr sz="1150"/>
          </a:p>
        </p:txBody>
      </p:sp>
      <p:pic>
        <p:nvPicPr>
          <p:cNvPr id="950" name="Kitopia screenshot nodes">
            <a:extLst>
              <a:ext uri="{FF2B5EF4-FFF2-40B4-BE49-F238E27FC236}">
                <a16:creationId xmlns:a16="http://schemas.microsoft.com/office/drawing/2014/main" id="{7801178B-CC24-472B-A64F-15224DC17D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37092" y="1920240"/>
            <a:ext cx="5728447" cy="3246120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7114003"/>
      </p:ext>
    </p:extLst>
  </p:cSld>
  <p:clrMapOvr>
    <a:masterClrMapping/>
  </p:clrMapOvr>
  <p:transition advTm="6350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4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9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3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18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9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276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322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36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52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598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644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5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828C0E2-0C0A-41DC-BAF6-F146A38460FB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EB4B46-A96E-4E01-A453-760CFA20EB03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0EF88E-7251-43B8-944D-4040C1B79DB0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DEVICE LINK · 设备互联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871ADCD-2BB6-4C36-88E9-9862C2533CA3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设备聊天：手机电脑互发消息与文件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3AB90E9-ECB5-4783-B396-F9C204A18EB8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06  /  Kitopia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0844C5C-39AE-4E60-B6D7-52BF87391756}"/>
              </a:ext>
            </a:extLst>
          </p:cNvPr>
          <p:cNvSpPr>
            <a:spLocks noGrp="1"/>
          </p:cNvSpPr>
          <p:nvPr/>
        </p:nvSpPr>
        <p:spPr>
          <a:xfrm>
            <a:off x="640080" y="185623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785EBB1-DB5A-47D3-9D4D-D41FD87C84EA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自动发现设备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2258978-417C-4614-8CEC-E65341C7B48E}"/>
              </a:ext>
            </a:extLst>
          </p:cNvPr>
          <p:cNvSpPr>
            <a:spLocks noGrp="1"/>
          </p:cNvSpPr>
          <p:nvPr/>
        </p:nvSpPr>
        <p:spPr>
          <a:xfrm>
            <a:off x="868680" y="21488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局域网内自动发现 Windows / Android 设备</a:t>
            </a:r>
            <a:endParaRPr sz="12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71D2FED-9A14-4A46-9D60-5C0D8A3064DD}"/>
              </a:ext>
            </a:extLst>
          </p:cNvPr>
          <p:cNvSpPr>
            <a:spLocks noGrp="1"/>
          </p:cNvSpPr>
          <p:nvPr/>
        </p:nvSpPr>
        <p:spPr>
          <a:xfrm>
            <a:off x="640080" y="27249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BBC9BE3-B83B-4D33-8EA8-BCD7B3589112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即时聊天</a:t>
            </a:r>
            <a:endParaRPr sz="16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2F0CC0F-0731-4604-B859-567C8BAB4841}"/>
              </a:ext>
            </a:extLst>
          </p:cNvPr>
          <p:cNvSpPr>
            <a:spLocks noGrp="1"/>
          </p:cNvSpPr>
          <p:nvPr/>
        </p:nvSpPr>
        <p:spPr>
          <a:xfrm>
            <a:off x="868680" y="301752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跨设备收发消息，像聊天软件一样自然</a:t>
            </a:r>
            <a:endParaRPr sz="12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6B9E570-247B-4180-BA1A-B308EE32CBCF}"/>
              </a:ext>
            </a:extLst>
          </p:cNvPr>
          <p:cNvSpPr>
            <a:spLocks noGrp="1"/>
          </p:cNvSpPr>
          <p:nvPr/>
        </p:nvSpPr>
        <p:spPr>
          <a:xfrm>
            <a:off x="640080" y="359359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FDB59B8-13E6-4023-A2E0-2AD0261C486D}"/>
              </a:ext>
            </a:extLst>
          </p:cNvPr>
          <p:cNvSpPr>
            <a:spLocks noGrp="1"/>
          </p:cNvSpPr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文件传输</a:t>
            </a:r>
            <a:endParaRPr sz="16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12CF7E5-E953-46E9-8CBD-C2C727B956AA}"/>
              </a:ext>
            </a:extLst>
          </p:cNvPr>
          <p:cNvSpPr>
            <a:spLocks noGrp="1"/>
          </p:cNvSpPr>
          <p:nvPr/>
        </p:nvSpPr>
        <p:spPr>
          <a:xfrm>
            <a:off x="868680" y="388620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发送文件与压缩包，实时显示速度和进度</a:t>
            </a:r>
            <a:endParaRPr sz="12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2D9021-5DAE-4DBD-9835-6F2FDFBA18FC}"/>
              </a:ext>
            </a:extLst>
          </p:cNvPr>
          <p:cNvSpPr>
            <a:spLocks noGrp="1"/>
          </p:cNvSpPr>
          <p:nvPr/>
        </p:nvSpPr>
        <p:spPr>
          <a:xfrm>
            <a:off x="640080" y="446227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D197BAB-8A4C-4420-B865-2F964620AABC}"/>
              </a:ext>
            </a:extLst>
          </p:cNvPr>
          <p:cNvSpPr>
            <a:spLocks noGrp="1"/>
          </p:cNvSpPr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接收确认</a:t>
            </a:r>
            <a:endParaRPr sz="16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17EEFE-56EF-45CF-8023-6BAFB4958DF1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来件可选择接受或拒绝，安全可控</a:t>
            </a:r>
            <a:endParaRPr sz="125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0412EB6-8EAF-4AEE-AE35-809AA8788F15}"/>
              </a:ext>
            </a:extLst>
          </p:cNvPr>
          <p:cNvSpPr>
            <a:spLocks noGrp="1"/>
          </p:cNvSpPr>
          <p:nvPr/>
        </p:nvSpPr>
        <p:spPr>
          <a:xfrm>
            <a:off x="640080" y="533095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CD06741-ACCD-490C-9441-F46D0B510FE0}"/>
              </a:ext>
            </a:extLst>
          </p:cNvPr>
          <p:cNvSpPr>
            <a:spLocks noGrp="1"/>
          </p:cNvSpPr>
          <p:nvPr/>
        </p:nvSpPr>
        <p:spPr>
          <a:xfrm>
            <a:off x="86868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移动端同步</a:t>
            </a:r>
            <a:endParaRPr sz="16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66988B4-FC34-4A9A-820A-9F542967F7F9}"/>
              </a:ext>
            </a:extLst>
          </p:cNvPr>
          <p:cNvSpPr>
            <a:spLocks noGrp="1"/>
          </p:cNvSpPr>
          <p:nvPr/>
        </p:nvSpPr>
        <p:spPr>
          <a:xfrm>
            <a:off x="868680" y="562356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手机端同样支持聊天与文件收发</a:t>
            </a:r>
            <a:endParaRPr sz="1250"/>
          </a:p>
        </p:txBody>
      </p:sp>
      <p:pic>
        <p:nvPicPr>
          <p:cNvPr id="900" name="Kitopia screenshot desk">
            <a:extLst>
              <a:ext uri="{FF2B5EF4-FFF2-40B4-BE49-F238E27FC236}">
                <a16:creationId xmlns:a16="http://schemas.microsoft.com/office/drawing/2014/main" id="{CFB3DB87-5546-48E5-A4B5-7DCCBD8D88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89321" y="1783080"/>
            <a:ext cx="4846318" cy="3028949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mobile">
            <a:extLst>
              <a:ext uri="{FF2B5EF4-FFF2-40B4-BE49-F238E27FC236}">
                <a16:creationId xmlns:a16="http://schemas.microsoft.com/office/drawing/2014/main" id="{833B9234-A7E3-4A1D-B035-A47D2C30D7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92640" y="2436349"/>
            <a:ext cx="1770221" cy="3631223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434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3140">
        <p:fade/>
      </p:transition>
    </mc:Choice>
    <mc:Fallback>
      <p:transition advTm="314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5000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5000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5000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5000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ecel="5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5000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5000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ecel="5000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ecel="5000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ecel="5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ecel="5000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ecel="5000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ecel="5000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9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9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decel="5000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decel="5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decel="5000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decel="5000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decel="5000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decel="5000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ecel="5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ecel="5000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3225">
                                          <p:val>
                                            <p:strVal val="0.85584*(1+#ppt_h/2)+0.14416*(#ppt_y)"/>
                                          </p:val>
                                        </p:tav>
                                        <p:tav tm="6451">
                                          <p:val>
                                            <p:strVal val="0.72696*(1+#ppt_h/2)+0.27304*(#ppt_y)"/>
                                          </p:val>
                                        </p:tav>
                                        <p:tav tm="9677">
                                          <p:val>
                                            <p:strVal val="0.61424*(1+#ppt_h/2)+0.38576*(#ppt_y)"/>
                                          </p:val>
                                        </p:tav>
                                        <p:tav tm="12903">
                                          <p:val>
                                            <p:strVal val="0.51738*(1+#ppt_h/2)+0.48262*(#ppt_y)"/>
                                          </p:val>
                                        </p:tav>
                                        <p:tav tm="16129">
                                          <p:val>
                                            <p:strVal val="0.43521*(1+#ppt_h/2)+0.56479*(#ppt_y)"/>
                                          </p:val>
                                        </p:tav>
                                        <p:tav tm="19354">
                                          <p:val>
                                            <p:strVal val="0.36603*(1+#ppt_h/2)+0.63397*(#ppt_y)"/>
                                          </p:val>
                                        </p:tav>
                                        <p:tav tm="22580">
                                          <p:val>
                                            <p:strVal val="0.30802*(1+#ppt_h/2)+0.69198*(#ppt_y)"/>
                                          </p:val>
                                        </p:tav>
                                        <p:tav tm="25806">
                                          <p:val>
                                            <p:strVal val="0.25944*(1+#ppt_h/2)+0.74056*(#ppt_y)"/>
                                          </p:val>
                                        </p:tav>
                                        <p:tav tm="29032">
                                          <p:val>
                                            <p:strVal val="0.21872*(1+#ppt_h/2)+0.78128*(#ppt_y)"/>
                                          </p:val>
                                        </p:tav>
                                        <p:tav tm="32258">
                                          <p:val>
                                            <p:strVal val="0.18453*(1+#ppt_h/2)+0.81547*(#ppt_y)"/>
                                          </p:val>
                                        </p:tav>
                                        <p:tav tm="35483">
                                          <p:val>
                                            <p:strVal val="0.15574*(1+#ppt_h/2)+0.84426*(#ppt_y)"/>
                                          </p:val>
                                        </p:tav>
                                        <p:tav tm="38709">
                                          <p:val>
                                            <p:strVal val="0.13146*(1+#ppt_h/2)+0.86854*(#ppt_y)"/>
                                          </p:val>
                                        </p:tav>
                                        <p:tav tm="41935">
                                          <p:val>
                                            <p:strVal val="0.11091*(1+#ppt_h/2)+0.88909*(#ppt_y)"/>
                                          </p:val>
                                        </p:tav>
                                        <p:tav tm="45161">
                                          <p:val>
                                            <p:strVal val="0.09350*(1+#ppt_h/2)+0.90650*(#ppt_y)"/>
                                          </p:val>
                                        </p:tav>
                                        <p:tav tm="48387">
                                          <p:val>
                                            <p:strVal val="0.07872*(1+#ppt_h/2)+0.92128*(#ppt_y)"/>
                                          </p:val>
                                        </p:tav>
                                        <p:tav tm="51612">
                                          <p:val>
                                            <p:strVal val="0.06616*(1+#ppt_h/2)+0.93384*(#ppt_y)"/>
                                          </p:val>
                                        </p:tav>
                                        <p:tav tm="54838">
                                          <p:val>
                                            <p:strVal val="0.05547*(1+#ppt_h/2)+0.94453*(#ppt_y)"/>
                                          </p:val>
                                        </p:tav>
                                        <p:tav tm="58064">
                                          <p:val>
                                            <p:strVal val="0.04637*(1+#ppt_h/2)+0.95363*(#ppt_y)"/>
                                          </p:val>
                                        </p:tav>
                                        <p:tav tm="61290">
                                          <p:val>
                                            <p:strVal val="0.03863*(1+#ppt_h/2)+0.96137*(#ppt_y)"/>
                                          </p:val>
                                        </p:tav>
                                        <p:tav tm="64516">
                                          <p:val>
                                            <p:strVal val="0.03205*(1+#ppt_h/2)+0.96795*(#ppt_y)"/>
                                          </p:val>
                                        </p:tav>
                                        <p:tav tm="67741">
                                          <p:val>
                                            <p:strVal val="0.02644*(1+#ppt_h/2)+0.97356*(#ppt_y)"/>
                                          </p:val>
                                        </p:tav>
                                        <p:tav tm="70967">
                                          <p:val>
                                            <p:strVal val="0.02152*(1+#ppt_h/2)+0.97848*(#ppt_y)"/>
                                          </p:val>
                                        </p:tav>
                                        <p:tav tm="74193">
                                          <p:val>
                                            <p:strVal val="0.01717*(1+#ppt_h/2)+0.98283*(#ppt_y)"/>
                                          </p:val>
                                        </p:tav>
                                        <p:tav tm="77419">
                                          <p:val>
                                            <p:strVal val="0.01337*(1+#ppt_h/2)+0.98663*(#ppt_y)"/>
                                          </p:val>
                                        </p:tav>
                                        <p:tav tm="80645">
                                          <p:val>
                                            <p:strVal val="0.01007*(1+#ppt_h/2)+0.98993*(#ppt_y)"/>
                                          </p:val>
                                        </p:tav>
                                        <p:tav tm="83870">
                                          <p:val>
                                            <p:strVal val="0.00726*(1+#ppt_h/2)+0.99274*(#ppt_y)"/>
                                          </p:val>
                                        </p:tav>
                                        <p:tav tm="87096">
                                          <p:val>
                                            <p:strVal val="0.00490*(1+#ppt_h/2)+0.99510*(#ppt_y)"/>
                                          </p:val>
                                        </p:tav>
                                        <p:tav tm="90322">
                                          <p:val>
                                            <p:strVal val="0.00299*(1+#ppt_h/2)+0.99701*(#ppt_y)"/>
                                          </p:val>
                                        </p:tav>
                                        <p:tav tm="93548">
                                          <p:val>
                                            <p:strVal val="0.00152*(1+#ppt_h/2)+0.99848*(#ppt_y)"/>
                                          </p:val>
                                        </p:tav>
                                        <p:tav tm="96774">
                                          <p:val>
                                            <p:strVal val="0.00049*(1+#ppt_h/2)+0.99951*(#ppt_y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900" grpId="0" animBg="1"/>
      <p:bldP spid="90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C3A9C8-0A22-46AD-A28A-03647529BFC1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AE28D1-076F-43BB-B0AF-14598750977F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D5C6EE8-2A23-48F0-818E-AB0AC9C4348A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MORE TOOLS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5469E51-A7FA-4FEC-8440-3246539529A3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划词翻译与媒体压缩：日常小事，一步搞定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CD85956-AF2D-458F-9700-10B5FBD5E946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07  /  Kitopia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DE2CB74-B08B-4724-B54C-3F4C67D29D90}"/>
              </a:ext>
            </a:extLst>
          </p:cNvPr>
          <p:cNvSpPr>
            <a:spLocks noGrp="1"/>
          </p:cNvSpPr>
          <p:nvPr/>
        </p:nvSpPr>
        <p:spPr>
          <a:xfrm>
            <a:off x="640080" y="18105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6213877-1329-4EA4-966F-F3C0FC1F50E2}"/>
              </a:ext>
            </a:extLst>
          </p:cNvPr>
          <p:cNvSpPr>
            <a:spLocks noGrp="1"/>
          </p:cNvSpPr>
          <p:nvPr/>
        </p:nvSpPr>
        <p:spPr>
          <a:xfrm>
            <a:off x="868680" y="173736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划词翻译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957D02B-C659-478B-8E2D-4BE4BB5BBFB2}"/>
              </a:ext>
            </a:extLst>
          </p:cNvPr>
          <p:cNvSpPr>
            <a:spLocks noGrp="1"/>
          </p:cNvSpPr>
          <p:nvPr/>
        </p:nvSpPr>
        <p:spPr>
          <a:xfrm>
            <a:off x="868680" y="2121408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选中任意文字即可翻译，自动识别语言</a:t>
            </a:r>
          </a:p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支持复制结果、固定窗口，阅读外文不打断</a:t>
            </a:r>
            <a:endParaRPr sz="12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8C7A522-C617-4ED6-8A6C-9BC472FBCFA0}"/>
              </a:ext>
            </a:extLst>
          </p:cNvPr>
          <p:cNvSpPr>
            <a:spLocks noGrp="1"/>
          </p:cNvSpPr>
          <p:nvPr/>
        </p:nvSpPr>
        <p:spPr>
          <a:xfrm>
            <a:off x="6263640" y="18105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506AAFB-693B-48D7-921F-DF86FAC5663E}"/>
              </a:ext>
            </a:extLst>
          </p:cNvPr>
          <p:cNvSpPr>
            <a:spLocks noGrp="1"/>
          </p:cNvSpPr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图片批量压缩</a:t>
            </a:r>
            <a:endParaRPr sz="16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151C948-C7EE-475B-9AC0-FB025A867295}"/>
              </a:ext>
            </a:extLst>
          </p:cNvPr>
          <p:cNvSpPr>
            <a:spLocks noGrp="1"/>
          </p:cNvSpPr>
          <p:nvPr/>
        </p:nvSpPr>
        <p:spPr>
          <a:xfrm>
            <a:off x="6492240" y="2121408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批量添加文件，输出 WebP 等多种格式</a:t>
            </a:r>
          </a:p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有损/无损可选，可调质量与尺寸比例</a:t>
            </a:r>
            <a:endParaRPr sz="1250"/>
          </a:p>
        </p:txBody>
      </p:sp>
      <p:pic>
        <p:nvPicPr>
          <p:cNvPr id="900" name="Kitopia screenshot xlate">
            <a:extLst>
              <a:ext uri="{FF2B5EF4-FFF2-40B4-BE49-F238E27FC236}">
                <a16:creationId xmlns:a16="http://schemas.microsoft.com/office/drawing/2014/main" id="{4E7B8CD2-B3C3-463B-A214-21B6CFB234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" y="3017520"/>
            <a:ext cx="4209053" cy="3108960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Kitopia screenshot compress">
            <a:extLst>
              <a:ext uri="{FF2B5EF4-FFF2-40B4-BE49-F238E27FC236}">
                <a16:creationId xmlns:a16="http://schemas.microsoft.com/office/drawing/2014/main" id="{3AF1266C-A330-475D-AC69-D7C76C4BB4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00643" y="3017520"/>
            <a:ext cx="4957531" cy="3108960"/>
          </a:xfrm>
          <a:prstGeom prst="roundRect">
            <a:avLst>
              <a:gd name="adj" fmla="val 3000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82444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3120">
        <p:fade/>
      </p:transition>
    </mc:Choice>
    <mc:Fallback>
      <p:transition advTm="312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 fill="hold"/>
                                        <p:tgtEl>
                                          <p:spTgt spid="9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900" grpId="0" animBg="1"/>
      <p:bldP spid="90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hape_0">
            <a:extLst>
              <a:ext uri="{FF2B5EF4-FFF2-40B4-BE49-F238E27FC236}">
                <a16:creationId xmlns:a16="http://schemas.microsoft.com/office/drawing/2014/main" id="{C166D939-809F-4B51-A723-D5C0D33E2A76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!!Shape_1">
            <a:extLst>
              <a:ext uri="{FF2B5EF4-FFF2-40B4-BE49-F238E27FC236}">
                <a16:creationId xmlns:a16="http://schemas.microsoft.com/office/drawing/2014/main" id="{7BD7CE1D-33F3-4E33-9F61-5F56B057A706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!!s0_Text_2">
            <a:extLst>
              <a:ext uri="{FF2B5EF4-FFF2-40B4-BE49-F238E27FC236}">
                <a16:creationId xmlns:a16="http://schemas.microsoft.com/office/drawing/2014/main" id="{8068A4E1-96B2-4BB4-B61E-CAFB079BF7D6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VIDEO COMPRESSION · KitopiaEx</a:t>
            </a:r>
            <a:endParaRPr sz="1200"/>
          </a:p>
        </p:txBody>
      </p:sp>
      <p:sp>
        <p:nvSpPr>
          <p:cNvPr id="5" name="!!s0_Text_3">
            <a:extLst>
              <a:ext uri="{FF2B5EF4-FFF2-40B4-BE49-F238E27FC236}">
                <a16:creationId xmlns:a16="http://schemas.microsoft.com/office/drawing/2014/main" id="{4468F649-CAF1-4D4F-8240-3396F83CC508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视频压缩与转换：批量处理，按需设置</a:t>
            </a:r>
            <a:endParaRPr sz="3000"/>
          </a:p>
        </p:txBody>
      </p:sp>
      <p:sp>
        <p:nvSpPr>
          <p:cNvPr id="6" name="!!s0_Text_4">
            <a:extLst>
              <a:ext uri="{FF2B5EF4-FFF2-40B4-BE49-F238E27FC236}">
                <a16:creationId xmlns:a16="http://schemas.microsoft.com/office/drawing/2014/main" id="{D31E9F1C-2DA6-40AC-B568-C1EA80E0E9EC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08  /  Kitopia</a:t>
            </a:r>
            <a:endParaRPr sz="900"/>
          </a:p>
        </p:txBody>
      </p:sp>
      <p:sp>
        <p:nvSpPr>
          <p:cNvPr id="7" name="!!Shape_5">
            <a:extLst>
              <a:ext uri="{FF2B5EF4-FFF2-40B4-BE49-F238E27FC236}">
                <a16:creationId xmlns:a16="http://schemas.microsoft.com/office/drawing/2014/main" id="{32533133-825C-43E0-B811-A91998BAFCDF}"/>
              </a:ext>
            </a:extLst>
          </p:cNvPr>
          <p:cNvSpPr>
            <a:spLocks noGrp="1"/>
          </p:cNvSpPr>
          <p:nvPr/>
        </p:nvSpPr>
        <p:spPr>
          <a:xfrm>
            <a:off x="640080" y="185623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!!s0_Text_6">
            <a:extLst>
              <a:ext uri="{FF2B5EF4-FFF2-40B4-BE49-F238E27FC236}">
                <a16:creationId xmlns:a16="http://schemas.microsoft.com/office/drawing/2014/main" id="{629CC175-E6BA-4785-A57C-86B435FE3F8A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批量处理</a:t>
            </a:r>
            <a:endParaRPr sz="1600"/>
          </a:p>
        </p:txBody>
      </p:sp>
      <p:sp>
        <p:nvSpPr>
          <p:cNvPr id="9" name="!!s0_Text_7">
            <a:extLst>
              <a:ext uri="{FF2B5EF4-FFF2-40B4-BE49-F238E27FC236}">
                <a16:creationId xmlns:a16="http://schemas.microsoft.com/office/drawing/2014/main" id="{9B32BF45-2CA7-4A7B-A6C9-74D9D3212E14}"/>
              </a:ext>
            </a:extLst>
          </p:cNvPr>
          <p:cNvSpPr>
            <a:spLocks noGrp="1"/>
          </p:cNvSpPr>
          <p:nvPr/>
        </p:nvSpPr>
        <p:spPr>
          <a:xfrm>
            <a:off x="868680" y="21488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添加视频或文件夹，逐项查看状态与输出体积</a:t>
            </a:r>
            <a:endParaRPr sz="1250"/>
          </a:p>
        </p:txBody>
      </p:sp>
      <p:sp>
        <p:nvSpPr>
          <p:cNvPr id="10" name="!!Shape_8">
            <a:extLst>
              <a:ext uri="{FF2B5EF4-FFF2-40B4-BE49-F238E27FC236}">
                <a16:creationId xmlns:a16="http://schemas.microsoft.com/office/drawing/2014/main" id="{AF566EB6-ABCA-49EF-9C17-B4AB082099AB}"/>
              </a:ext>
            </a:extLst>
          </p:cNvPr>
          <p:cNvSpPr>
            <a:spLocks noGrp="1"/>
          </p:cNvSpPr>
          <p:nvPr/>
        </p:nvSpPr>
        <p:spPr>
          <a:xfrm>
            <a:off x="640080" y="27249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!!s0_Text_9">
            <a:extLst>
              <a:ext uri="{FF2B5EF4-FFF2-40B4-BE49-F238E27FC236}">
                <a16:creationId xmlns:a16="http://schemas.microsoft.com/office/drawing/2014/main" id="{933A325D-258E-4152-83F8-BCA6AFF44C69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格式与编码</a:t>
            </a:r>
            <a:endParaRPr sz="1600"/>
          </a:p>
        </p:txBody>
      </p:sp>
      <p:sp>
        <p:nvSpPr>
          <p:cNvPr id="12" name="!!s0_Text_10">
            <a:extLst>
              <a:ext uri="{FF2B5EF4-FFF2-40B4-BE49-F238E27FC236}">
                <a16:creationId xmlns:a16="http://schemas.microsoft.com/office/drawing/2014/main" id="{D78143FE-94F8-4F6B-B2D8-4B435DBA624D}"/>
              </a:ext>
            </a:extLst>
          </p:cNvPr>
          <p:cNvSpPr>
            <a:spLocks noGrp="1"/>
          </p:cNvSpPr>
          <p:nvPr/>
        </p:nvSpPr>
        <p:spPr>
          <a:xfrm>
            <a:off x="868680" y="301752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MP4 / WebM / MKV / MOV，H.264 / HEVC / VP9 / AV1</a:t>
            </a:r>
            <a:endParaRPr sz="1250"/>
          </a:p>
        </p:txBody>
      </p:sp>
      <p:sp>
        <p:nvSpPr>
          <p:cNvPr id="13" name="!!Shape_11">
            <a:extLst>
              <a:ext uri="{FF2B5EF4-FFF2-40B4-BE49-F238E27FC236}">
                <a16:creationId xmlns:a16="http://schemas.microsoft.com/office/drawing/2014/main" id="{60A26C6F-D07F-4105-9324-8A5DA5AC7744}"/>
              </a:ext>
            </a:extLst>
          </p:cNvPr>
          <p:cNvSpPr>
            <a:spLocks noGrp="1"/>
          </p:cNvSpPr>
          <p:nvPr/>
        </p:nvSpPr>
        <p:spPr>
          <a:xfrm>
            <a:off x="640080" y="359359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!!s0_Text_12">
            <a:extLst>
              <a:ext uri="{FF2B5EF4-FFF2-40B4-BE49-F238E27FC236}">
                <a16:creationId xmlns:a16="http://schemas.microsoft.com/office/drawing/2014/main" id="{C95A0CBD-7FD3-49FC-90BA-8F1A1D20903F}"/>
              </a:ext>
            </a:extLst>
          </p:cNvPr>
          <p:cNvSpPr>
            <a:spLocks noGrp="1"/>
          </p:cNvSpPr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画质与目标体积</a:t>
            </a:r>
            <a:endParaRPr sz="1600"/>
          </a:p>
        </p:txBody>
      </p:sp>
      <p:sp>
        <p:nvSpPr>
          <p:cNvPr id="15" name="!!s0_Text_13">
            <a:extLst>
              <a:ext uri="{FF2B5EF4-FFF2-40B4-BE49-F238E27FC236}">
                <a16:creationId xmlns:a16="http://schemas.microsoft.com/office/drawing/2014/main" id="{8B23B7C2-8A89-4202-88A7-1A727D0D6F4E}"/>
              </a:ext>
            </a:extLst>
          </p:cNvPr>
          <p:cNvSpPr>
            <a:spLocks noGrp="1"/>
          </p:cNvSpPr>
          <p:nvPr/>
        </p:nvSpPr>
        <p:spPr>
          <a:xfrm>
            <a:off x="868680" y="388620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按画质百分比压缩，或设置目标体积比例</a:t>
            </a:r>
            <a:endParaRPr sz="1250"/>
          </a:p>
        </p:txBody>
      </p:sp>
      <p:sp>
        <p:nvSpPr>
          <p:cNvPr id="16" name="!!Shape_14">
            <a:extLst>
              <a:ext uri="{FF2B5EF4-FFF2-40B4-BE49-F238E27FC236}">
                <a16:creationId xmlns:a16="http://schemas.microsoft.com/office/drawing/2014/main" id="{F0032F00-4726-47A9-8EC0-F0344635837A}"/>
              </a:ext>
            </a:extLst>
          </p:cNvPr>
          <p:cNvSpPr>
            <a:spLocks noGrp="1"/>
          </p:cNvSpPr>
          <p:nvPr/>
        </p:nvSpPr>
        <p:spPr>
          <a:xfrm>
            <a:off x="640080" y="446227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7" name="!!s0_Text_15">
            <a:extLst>
              <a:ext uri="{FF2B5EF4-FFF2-40B4-BE49-F238E27FC236}">
                <a16:creationId xmlns:a16="http://schemas.microsoft.com/office/drawing/2014/main" id="{69D807B9-4DC8-470C-B1C9-9A918529C0FE}"/>
              </a:ext>
            </a:extLst>
          </p:cNvPr>
          <p:cNvSpPr>
            <a:spLocks noGrp="1"/>
          </p:cNvSpPr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尺寸与音轨</a:t>
            </a:r>
            <a:endParaRPr sz="1600"/>
          </a:p>
        </p:txBody>
      </p:sp>
      <p:sp>
        <p:nvSpPr>
          <p:cNvPr id="18" name="!!s0_Text_16">
            <a:extLst>
              <a:ext uri="{FF2B5EF4-FFF2-40B4-BE49-F238E27FC236}">
                <a16:creationId xmlns:a16="http://schemas.microsoft.com/office/drawing/2014/main" id="{E55C1950-819E-4F5A-B553-57E37F1D89AF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调整尺寸比例和最长边，可保留全部音轨</a:t>
            </a:r>
            <a:endParaRPr sz="1250"/>
          </a:p>
        </p:txBody>
      </p:sp>
      <p:sp>
        <p:nvSpPr>
          <p:cNvPr id="19" name="!!Shape_17">
            <a:extLst>
              <a:ext uri="{FF2B5EF4-FFF2-40B4-BE49-F238E27FC236}">
                <a16:creationId xmlns:a16="http://schemas.microsoft.com/office/drawing/2014/main" id="{1E2F893C-030F-4262-B686-4CE0F89114B6}"/>
              </a:ext>
            </a:extLst>
          </p:cNvPr>
          <p:cNvSpPr>
            <a:spLocks noGrp="1"/>
          </p:cNvSpPr>
          <p:nvPr/>
        </p:nvSpPr>
        <p:spPr>
          <a:xfrm>
            <a:off x="640080" y="533095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20" name="!!s0_Text_18">
            <a:extLst>
              <a:ext uri="{FF2B5EF4-FFF2-40B4-BE49-F238E27FC236}">
                <a16:creationId xmlns:a16="http://schemas.microsoft.com/office/drawing/2014/main" id="{E8F40B06-8D25-416D-848C-DAF40330E0C8}"/>
              </a:ext>
            </a:extLst>
          </p:cNvPr>
          <p:cNvSpPr>
            <a:spLocks noGrp="1"/>
          </p:cNvSpPr>
          <p:nvPr/>
        </p:nvSpPr>
        <p:spPr>
          <a:xfrm>
            <a:off x="86868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HDR 与格式转换</a:t>
            </a:r>
            <a:endParaRPr sz="1600"/>
          </a:p>
        </p:txBody>
      </p:sp>
      <p:sp>
        <p:nvSpPr>
          <p:cNvPr id="21" name="!!s0_Text_19">
            <a:extLst>
              <a:ext uri="{FF2B5EF4-FFF2-40B4-BE49-F238E27FC236}">
                <a16:creationId xmlns:a16="http://schemas.microsoft.com/office/drawing/2014/main" id="{23E9DAA7-F443-4123-92D4-950BAE1B83C2}"/>
              </a:ext>
            </a:extLst>
          </p:cNvPr>
          <p:cNvSpPr>
            <a:spLocks noGrp="1"/>
          </p:cNvSpPr>
          <p:nvPr/>
        </p:nvSpPr>
        <p:spPr>
          <a:xfrm>
            <a:off x="868680" y="562356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HDR 转 SDR，或保持原编码转换文件格式</a:t>
            </a:r>
            <a:endParaRPr sz="1250"/>
          </a:p>
        </p:txBody>
      </p:sp>
      <p:pic>
        <p:nvPicPr>
          <p:cNvPr id="900" name="!!shot0a">
            <a:extLst>
              <a:ext uri="{FF2B5EF4-FFF2-40B4-BE49-F238E27FC236}">
                <a16:creationId xmlns:a16="http://schemas.microsoft.com/office/drawing/2014/main" id="{29193BEC-60ED-44DC-B0BB-30949913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15050" y="1743075"/>
            <a:ext cx="5448300" cy="3971925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50" name="!!shot1a">
            <a:extLst>
              <a:ext uri="{FF2B5EF4-FFF2-40B4-BE49-F238E27FC236}">
                <a16:creationId xmlns:a16="http://schemas.microsoft.com/office/drawing/2014/main" id="{29193BEC-60ED-44DC-B0BB-30949913EB0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tretch/>
        </p:blipFill>
        <p:spPr>
          <a:xfrm>
            <a:off x="12179300" y="4036589"/>
            <a:ext cx="12700" cy="8433"/>
          </a:xfrm>
          <a:prstGeom prst="roundRect">
            <a:avLst>
              <a:gd name="adj" fmla="val 3387"/>
            </a:avLst>
          </a:prstGeom>
          <a:ln w="9525">
            <a:solidFill>
              <a:srgbClr val="D0D7E2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0261014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3130">
        <p:fade/>
      </p:transition>
    </mc:Choice>
    <mc:Fallback>
      <p:transition advTm="313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 fill="hold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90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hape_0">
            <a:extLst>
              <a:ext uri="{FF2B5EF4-FFF2-40B4-BE49-F238E27FC236}">
                <a16:creationId xmlns:a16="http://schemas.microsoft.com/office/drawing/2014/main" id="{C166D939-809F-4B51-A723-D5C0D33E2A76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!!Shape_1">
            <a:extLst>
              <a:ext uri="{FF2B5EF4-FFF2-40B4-BE49-F238E27FC236}">
                <a16:creationId xmlns:a16="http://schemas.microsoft.com/office/drawing/2014/main" id="{7BD7CE1D-33F3-4E33-9F61-5F56B057A706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!!s1_Text_2">
            <a:extLst>
              <a:ext uri="{FF2B5EF4-FFF2-40B4-BE49-F238E27FC236}">
                <a16:creationId xmlns:a16="http://schemas.microsoft.com/office/drawing/2014/main" id="{8068A4E1-96B2-4BB4-B61E-CAFB079BF7D6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BATCH RENAME · KitopiaEx</a:t>
            </a:r>
            <a:endParaRPr sz="1200"/>
          </a:p>
        </p:txBody>
      </p:sp>
      <p:sp>
        <p:nvSpPr>
          <p:cNvPr id="5" name="!!s1_Text_3">
            <a:extLst>
              <a:ext uri="{FF2B5EF4-FFF2-40B4-BE49-F238E27FC236}">
                <a16:creationId xmlns:a16="http://schemas.microsoft.com/office/drawing/2014/main" id="{4468F649-CAF1-4D4F-8240-3396F83CC508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批量重命名：先预览，再统一整理文件</a:t>
            </a:r>
            <a:endParaRPr sz="3000"/>
          </a:p>
        </p:txBody>
      </p:sp>
      <p:sp>
        <p:nvSpPr>
          <p:cNvPr id="6" name="!!s1_Text_4">
            <a:extLst>
              <a:ext uri="{FF2B5EF4-FFF2-40B4-BE49-F238E27FC236}">
                <a16:creationId xmlns:a16="http://schemas.microsoft.com/office/drawing/2014/main" id="{D31E9F1C-2DA6-40AC-B568-C1EA80E0E9EC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09  /  Kitopia</a:t>
            </a:r>
            <a:endParaRPr sz="900"/>
          </a:p>
        </p:txBody>
      </p:sp>
      <p:sp>
        <p:nvSpPr>
          <p:cNvPr id="7" name="!!Shape_5">
            <a:extLst>
              <a:ext uri="{FF2B5EF4-FFF2-40B4-BE49-F238E27FC236}">
                <a16:creationId xmlns:a16="http://schemas.microsoft.com/office/drawing/2014/main" id="{32533133-825C-43E0-B811-A91998BAFCDF}"/>
              </a:ext>
            </a:extLst>
          </p:cNvPr>
          <p:cNvSpPr>
            <a:spLocks noGrp="1"/>
          </p:cNvSpPr>
          <p:nvPr/>
        </p:nvSpPr>
        <p:spPr>
          <a:xfrm>
            <a:off x="640080" y="185623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!!s1_Text_6">
            <a:extLst>
              <a:ext uri="{FF2B5EF4-FFF2-40B4-BE49-F238E27FC236}">
                <a16:creationId xmlns:a16="http://schemas.microsoft.com/office/drawing/2014/main" id="{629CC175-E6BA-4785-A57C-86B435FE3F8A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命名规则</a:t>
            </a:r>
            <a:endParaRPr sz="1600"/>
          </a:p>
        </p:txBody>
      </p:sp>
      <p:sp>
        <p:nvSpPr>
          <p:cNvPr id="9" name="!!s1_Text_7">
            <a:extLst>
              <a:ext uri="{FF2B5EF4-FFF2-40B4-BE49-F238E27FC236}">
                <a16:creationId xmlns:a16="http://schemas.microsoft.com/office/drawing/2014/main" id="{9B32BF45-2CA7-4A7B-A6C9-74D9D3212E14}"/>
              </a:ext>
            </a:extLst>
          </p:cNvPr>
          <p:cNvSpPr>
            <a:spLocks noGrp="1"/>
          </p:cNvSpPr>
          <p:nvPr/>
        </p:nvSpPr>
        <p:spPr>
          <a:xfrm>
            <a:off x="868680" y="21488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设置基础名称、前后缀，也可查找并替换原名</a:t>
            </a:r>
            <a:endParaRPr sz="1250"/>
          </a:p>
        </p:txBody>
      </p:sp>
      <p:sp>
        <p:nvSpPr>
          <p:cNvPr id="10" name="!!Shape_8">
            <a:extLst>
              <a:ext uri="{FF2B5EF4-FFF2-40B4-BE49-F238E27FC236}">
                <a16:creationId xmlns:a16="http://schemas.microsoft.com/office/drawing/2014/main" id="{AF566EB6-ABCA-49EF-9C17-B4AB082099AB}"/>
              </a:ext>
            </a:extLst>
          </p:cNvPr>
          <p:cNvSpPr>
            <a:spLocks noGrp="1"/>
          </p:cNvSpPr>
          <p:nvPr/>
        </p:nvSpPr>
        <p:spPr>
          <a:xfrm>
            <a:off x="640080" y="27249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!!s1_Text_9">
            <a:extLst>
              <a:ext uri="{FF2B5EF4-FFF2-40B4-BE49-F238E27FC236}">
                <a16:creationId xmlns:a16="http://schemas.microsoft.com/office/drawing/2014/main" id="{933A325D-258E-4152-83F8-BCA6AFF44C69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排序与连续编号</a:t>
            </a:r>
            <a:endParaRPr sz="1600"/>
          </a:p>
        </p:txBody>
      </p:sp>
      <p:sp>
        <p:nvSpPr>
          <p:cNvPr id="12" name="!!s1_Text_10">
            <a:extLst>
              <a:ext uri="{FF2B5EF4-FFF2-40B4-BE49-F238E27FC236}">
                <a16:creationId xmlns:a16="http://schemas.microsoft.com/office/drawing/2014/main" id="{D78143FE-94F8-4F6B-B2D8-4B435DBA624D}"/>
              </a:ext>
            </a:extLst>
          </p:cNvPr>
          <p:cNvSpPr>
            <a:spLocks noGrp="1"/>
          </p:cNvSpPr>
          <p:nvPr/>
        </p:nvSpPr>
        <p:spPr>
          <a:xfrm>
            <a:off x="868680" y="301752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按名称、类型、大小或时间排序，设置起始值与位数</a:t>
            </a:r>
            <a:endParaRPr sz="1250"/>
          </a:p>
        </p:txBody>
      </p:sp>
      <p:sp>
        <p:nvSpPr>
          <p:cNvPr id="13" name="!!Shape_11">
            <a:extLst>
              <a:ext uri="{FF2B5EF4-FFF2-40B4-BE49-F238E27FC236}">
                <a16:creationId xmlns:a16="http://schemas.microsoft.com/office/drawing/2014/main" id="{60A26C6F-D07F-4105-9324-8A5DA5AC7744}"/>
              </a:ext>
            </a:extLst>
          </p:cNvPr>
          <p:cNvSpPr>
            <a:spLocks noGrp="1"/>
          </p:cNvSpPr>
          <p:nvPr/>
        </p:nvSpPr>
        <p:spPr>
          <a:xfrm>
            <a:off x="640080" y="359359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!!s1_Text_12">
            <a:extLst>
              <a:ext uri="{FF2B5EF4-FFF2-40B4-BE49-F238E27FC236}">
                <a16:creationId xmlns:a16="http://schemas.microsoft.com/office/drawing/2014/main" id="{C95A0CBD-7FD3-49FC-90BA-8F1A1D20903F}"/>
              </a:ext>
            </a:extLst>
          </p:cNvPr>
          <p:cNvSpPr>
            <a:spLocks noGrp="1"/>
          </p:cNvSpPr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冲突预览</a:t>
            </a:r>
            <a:endParaRPr sz="1600"/>
          </a:p>
        </p:txBody>
      </p:sp>
      <p:sp>
        <p:nvSpPr>
          <p:cNvPr id="15" name="!!s1_Text_13">
            <a:extLst>
              <a:ext uri="{FF2B5EF4-FFF2-40B4-BE49-F238E27FC236}">
                <a16:creationId xmlns:a16="http://schemas.microsoft.com/office/drawing/2014/main" id="{8B23B7C2-8A89-4202-88A7-1A727D0D6F4E}"/>
              </a:ext>
            </a:extLst>
          </p:cNvPr>
          <p:cNvSpPr>
            <a:spLocks noGrp="1"/>
          </p:cNvSpPr>
          <p:nvPr/>
        </p:nvSpPr>
        <p:spPr>
          <a:xfrm>
            <a:off x="868680" y="388620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对照原名和新名，执行前检查重名与无效名称</a:t>
            </a:r>
            <a:endParaRPr sz="1250"/>
          </a:p>
        </p:txBody>
      </p:sp>
      <p:sp>
        <p:nvSpPr>
          <p:cNvPr id="16" name="!!Shape_14">
            <a:extLst>
              <a:ext uri="{FF2B5EF4-FFF2-40B4-BE49-F238E27FC236}">
                <a16:creationId xmlns:a16="http://schemas.microsoft.com/office/drawing/2014/main" id="{F0032F00-4726-47A9-8EC0-F0344635837A}"/>
              </a:ext>
            </a:extLst>
          </p:cNvPr>
          <p:cNvSpPr>
            <a:spLocks noGrp="1"/>
          </p:cNvSpPr>
          <p:nvPr/>
        </p:nvSpPr>
        <p:spPr>
          <a:xfrm>
            <a:off x="640080" y="446227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7" name="!!s1_Text_15">
            <a:extLst>
              <a:ext uri="{FF2B5EF4-FFF2-40B4-BE49-F238E27FC236}">
                <a16:creationId xmlns:a16="http://schemas.microsoft.com/office/drawing/2014/main" id="{69D807B9-4DC8-470C-B1C9-9A918529C0FE}"/>
              </a:ext>
            </a:extLst>
          </p:cNvPr>
          <p:cNvSpPr>
            <a:spLocks noGrp="1"/>
          </p:cNvSpPr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图片压缩副本</a:t>
            </a:r>
            <a:endParaRPr sz="1600"/>
          </a:p>
        </p:txBody>
      </p:sp>
      <p:sp>
        <p:nvSpPr>
          <p:cNvPr id="18" name="!!s1_Text_16">
            <a:extLst>
              <a:ext uri="{FF2B5EF4-FFF2-40B4-BE49-F238E27FC236}">
                <a16:creationId xmlns:a16="http://schemas.microsoft.com/office/drawing/2014/main" id="{E55C1950-819E-4F5A-B553-57E37F1D89AF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可同步压缩为 WebP、JPEG 或 PNG，并保留原图</a:t>
            </a:r>
            <a:endParaRPr sz="1250"/>
          </a:p>
        </p:txBody>
      </p:sp>
      <p:sp>
        <p:nvSpPr>
          <p:cNvPr id="19" name="!!Shape_17">
            <a:extLst>
              <a:ext uri="{FF2B5EF4-FFF2-40B4-BE49-F238E27FC236}">
                <a16:creationId xmlns:a16="http://schemas.microsoft.com/office/drawing/2014/main" id="{1E2F893C-030F-4262-B686-4CE0F89114B6}"/>
              </a:ext>
            </a:extLst>
          </p:cNvPr>
          <p:cNvSpPr>
            <a:spLocks noGrp="1"/>
          </p:cNvSpPr>
          <p:nvPr/>
        </p:nvSpPr>
        <p:spPr>
          <a:xfrm>
            <a:off x="640080" y="533095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20" name="!!s1_Text_18">
            <a:extLst>
              <a:ext uri="{FF2B5EF4-FFF2-40B4-BE49-F238E27FC236}">
                <a16:creationId xmlns:a16="http://schemas.microsoft.com/office/drawing/2014/main" id="{E8F40B06-8D25-416D-848C-DAF40330E0C8}"/>
              </a:ext>
            </a:extLst>
          </p:cNvPr>
          <p:cNvSpPr>
            <a:spLocks noGrp="1"/>
          </p:cNvSpPr>
          <p:nvPr/>
        </p:nvSpPr>
        <p:spPr>
          <a:xfrm>
            <a:off x="86868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资源管理器直达</a:t>
            </a:r>
            <a:endParaRPr sz="1600"/>
          </a:p>
        </p:txBody>
      </p:sp>
      <p:sp>
        <p:nvSpPr>
          <p:cNvPr id="21" name="!!s1_Text_19">
            <a:extLst>
              <a:ext uri="{FF2B5EF4-FFF2-40B4-BE49-F238E27FC236}">
                <a16:creationId xmlns:a16="http://schemas.microsoft.com/office/drawing/2014/main" id="{23E9DAA7-F443-4123-92D4-950BAE1B83C2}"/>
              </a:ext>
            </a:extLst>
          </p:cNvPr>
          <p:cNvSpPr>
            <a:spLocks noGrp="1"/>
          </p:cNvSpPr>
          <p:nvPr/>
        </p:nvSpPr>
        <p:spPr>
          <a:xfrm>
            <a:off x="868680" y="562356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支持添加文件或文件夹，也可从右键菜单打开</a:t>
            </a:r>
            <a:endParaRPr sz="1250"/>
          </a:p>
        </p:txBody>
      </p:sp>
      <p:pic>
        <p:nvPicPr>
          <p:cNvPr id="900" name="!!shot1a">
            <a:extLst>
              <a:ext uri="{FF2B5EF4-FFF2-40B4-BE49-F238E27FC236}">
                <a16:creationId xmlns:a16="http://schemas.microsoft.com/office/drawing/2014/main" id="{29193BEC-60ED-44DC-B0BB-30949913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53125" y="2171700"/>
            <a:ext cx="5610225" cy="3725513"/>
          </a:xfrm>
          <a:prstGeom prst="roundRect">
            <a:avLst>
              <a:gd name="adj" fmla="val 3387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51" name="!!shot0a">
            <a:extLst>
              <a:ext uri="{FF2B5EF4-FFF2-40B4-BE49-F238E27FC236}">
                <a16:creationId xmlns:a16="http://schemas.microsoft.com/office/drawing/2014/main" id="{29193BEC-60ED-44DC-B0BB-30949913EB0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tretch/>
        </p:blipFill>
        <p:spPr>
          <a:xfrm>
            <a:off x="0" y="3730761"/>
            <a:ext cx="12700" cy="9252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/>
        </p:spPr>
      </p:pic>
      <p:pic>
        <p:nvPicPr>
          <p:cNvPr id="952" name="!!shot2a">
            <a:extLst>
              <a:ext uri="{FF2B5EF4-FFF2-40B4-BE49-F238E27FC236}">
                <a16:creationId xmlns:a16="http://schemas.microsoft.com/office/drawing/2014/main" id="{2EF876FB-6E97-4CEB-8EF5-AE0260CA14F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 t="100" b="100"/>
          <a:stretch/>
        </p:blipFill>
        <p:spPr>
          <a:xfrm>
            <a:off x="12179300" y="3729037"/>
            <a:ext cx="12700" cy="12700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0261014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 advTm="2230">
        <p159:morph option="byObject"/>
      </p:transition>
    </mc:Choice>
    <mc:Fallback>
      <p:transition spd="slow" advTm="223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hape_0">
            <a:extLst>
              <a:ext uri="{FF2B5EF4-FFF2-40B4-BE49-F238E27FC236}">
                <a16:creationId xmlns:a16="http://schemas.microsoft.com/office/drawing/2014/main" id="{BD83517D-8BA7-4204-B9E3-BEFE63FC8D48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!!Shape_1">
            <a:extLst>
              <a:ext uri="{FF2B5EF4-FFF2-40B4-BE49-F238E27FC236}">
                <a16:creationId xmlns:a16="http://schemas.microsoft.com/office/drawing/2014/main" id="{26C6D95C-1139-45C5-9F14-C88C250F1378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!!s2_Text_2">
            <a:extLst>
              <a:ext uri="{FF2B5EF4-FFF2-40B4-BE49-F238E27FC236}">
                <a16:creationId xmlns:a16="http://schemas.microsoft.com/office/drawing/2014/main" id="{756C440D-D514-407E-8023-C216A7475E13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WINDOWS INTEGRATION</a:t>
            </a:r>
            <a:endParaRPr sz="1200"/>
          </a:p>
        </p:txBody>
      </p:sp>
      <p:sp>
        <p:nvSpPr>
          <p:cNvPr id="5" name="!!s2_Text_3">
            <a:extLst>
              <a:ext uri="{FF2B5EF4-FFF2-40B4-BE49-F238E27FC236}">
                <a16:creationId xmlns:a16="http://schemas.microsoft.com/office/drawing/2014/main" id="{BE57B646-4786-487D-91F3-7B88CC0BBAF0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Windows 系统深度功能：解锁文件，置顶窗口</a:t>
            </a:r>
            <a:endParaRPr sz="3000"/>
          </a:p>
        </p:txBody>
      </p:sp>
      <p:sp>
        <p:nvSpPr>
          <p:cNvPr id="6" name="!!s2_Text_4">
            <a:extLst>
              <a:ext uri="{FF2B5EF4-FFF2-40B4-BE49-F238E27FC236}">
                <a16:creationId xmlns:a16="http://schemas.microsoft.com/office/drawing/2014/main" id="{C16BEDE2-2281-4D5A-9A95-7D2F070D3278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10  /  Kitopia</a:t>
            </a:r>
            <a:endParaRPr sz="900"/>
          </a:p>
        </p:txBody>
      </p:sp>
      <p:sp>
        <p:nvSpPr>
          <p:cNvPr id="7" name="!!Shape_5">
            <a:extLst>
              <a:ext uri="{FF2B5EF4-FFF2-40B4-BE49-F238E27FC236}">
                <a16:creationId xmlns:a16="http://schemas.microsoft.com/office/drawing/2014/main" id="{F4781056-1BDF-4EBF-ABBA-3D9AC7BA5CBA}"/>
              </a:ext>
            </a:extLst>
          </p:cNvPr>
          <p:cNvSpPr>
            <a:spLocks noGrp="1"/>
          </p:cNvSpPr>
          <p:nvPr/>
        </p:nvSpPr>
        <p:spPr>
          <a:xfrm>
            <a:off x="640080" y="185623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!!s2_Text_6">
            <a:extLst>
              <a:ext uri="{FF2B5EF4-FFF2-40B4-BE49-F238E27FC236}">
                <a16:creationId xmlns:a16="http://schemas.microsoft.com/office/drawing/2014/main" id="{5DA57012-CE17-470B-BACC-2ED86622A808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文件占用检测</a:t>
            </a:r>
            <a:endParaRPr sz="1600"/>
          </a:p>
        </p:txBody>
      </p:sp>
      <p:sp>
        <p:nvSpPr>
          <p:cNvPr id="9" name="!!s2_Text_7">
            <a:extLst>
              <a:ext uri="{FF2B5EF4-FFF2-40B4-BE49-F238E27FC236}">
                <a16:creationId xmlns:a16="http://schemas.microsoft.com/office/drawing/2014/main" id="{2C1B14FF-2199-4150-AB85-2A705DAD3716}"/>
              </a:ext>
            </a:extLst>
          </p:cNvPr>
          <p:cNvSpPr>
            <a:spLocks noGrp="1"/>
          </p:cNvSpPr>
          <p:nvPr/>
        </p:nvSpPr>
        <p:spPr>
          <a:xfrm>
            <a:off x="868680" y="21488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查看占用文件的进程，支持全系统监控</a:t>
            </a:r>
            <a:endParaRPr sz="1250"/>
          </a:p>
        </p:txBody>
      </p:sp>
      <p:sp>
        <p:nvSpPr>
          <p:cNvPr id="10" name="!!Shape_8">
            <a:extLst>
              <a:ext uri="{FF2B5EF4-FFF2-40B4-BE49-F238E27FC236}">
                <a16:creationId xmlns:a16="http://schemas.microsoft.com/office/drawing/2014/main" id="{DEAA5C3C-B3E9-4A60-B7EA-BD9E592645A6}"/>
              </a:ext>
            </a:extLst>
          </p:cNvPr>
          <p:cNvSpPr>
            <a:spLocks noGrp="1"/>
          </p:cNvSpPr>
          <p:nvPr/>
        </p:nvSpPr>
        <p:spPr>
          <a:xfrm>
            <a:off x="640080" y="27249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!!s2_Text_9">
            <a:extLst>
              <a:ext uri="{FF2B5EF4-FFF2-40B4-BE49-F238E27FC236}">
                <a16:creationId xmlns:a16="http://schemas.microsoft.com/office/drawing/2014/main" id="{61657E9A-D7D0-4B88-A7FE-E66131092141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按需解锁</a:t>
            </a:r>
            <a:endParaRPr sz="1600"/>
          </a:p>
        </p:txBody>
      </p:sp>
      <p:sp>
        <p:nvSpPr>
          <p:cNvPr id="12" name="!!s2_Text_10">
            <a:extLst>
              <a:ext uri="{FF2B5EF4-FFF2-40B4-BE49-F238E27FC236}">
                <a16:creationId xmlns:a16="http://schemas.microsoft.com/office/drawing/2014/main" id="{68FF28BF-DCC1-40DF-A592-6934CDD091D1}"/>
              </a:ext>
            </a:extLst>
          </p:cNvPr>
          <p:cNvSpPr>
            <a:spLocks noGrp="1"/>
          </p:cNvSpPr>
          <p:nvPr/>
        </p:nvSpPr>
        <p:spPr>
          <a:xfrm>
            <a:off x="868680" y="301752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解除选中或全部占用，释放被锁定的文件</a:t>
            </a:r>
            <a:endParaRPr sz="1250"/>
          </a:p>
        </p:txBody>
      </p:sp>
      <p:sp>
        <p:nvSpPr>
          <p:cNvPr id="13" name="!!Shape_11">
            <a:extLst>
              <a:ext uri="{FF2B5EF4-FFF2-40B4-BE49-F238E27FC236}">
                <a16:creationId xmlns:a16="http://schemas.microsoft.com/office/drawing/2014/main" id="{43F00E48-B81E-4503-B5DF-D325B4721145}"/>
              </a:ext>
            </a:extLst>
          </p:cNvPr>
          <p:cNvSpPr>
            <a:spLocks noGrp="1"/>
          </p:cNvSpPr>
          <p:nvPr/>
        </p:nvSpPr>
        <p:spPr>
          <a:xfrm>
            <a:off x="640080" y="359359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!!s2_Text_12">
            <a:extLst>
              <a:ext uri="{FF2B5EF4-FFF2-40B4-BE49-F238E27FC236}">
                <a16:creationId xmlns:a16="http://schemas.microsoft.com/office/drawing/2014/main" id="{1FFCC1CE-71E9-4D36-B795-962209B3E378}"/>
              </a:ext>
            </a:extLst>
          </p:cNvPr>
          <p:cNvSpPr>
            <a:spLocks noGrp="1"/>
          </p:cNvSpPr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结束进程</a:t>
            </a:r>
            <a:endParaRPr sz="1600"/>
          </a:p>
        </p:txBody>
      </p:sp>
      <p:sp>
        <p:nvSpPr>
          <p:cNvPr id="15" name="!!s2_Text_13">
            <a:extLst>
              <a:ext uri="{FF2B5EF4-FFF2-40B4-BE49-F238E27FC236}">
                <a16:creationId xmlns:a16="http://schemas.microsoft.com/office/drawing/2014/main" id="{9ABE3D38-94F3-4595-A171-ED0E3C33FA05}"/>
              </a:ext>
            </a:extLst>
          </p:cNvPr>
          <p:cNvSpPr>
            <a:spLocks noGrp="1"/>
          </p:cNvSpPr>
          <p:nvPr/>
        </p:nvSpPr>
        <p:spPr>
          <a:xfrm>
            <a:off x="868680" y="388620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一键结束占用进程，删除移动不再受阻</a:t>
            </a:r>
            <a:endParaRPr sz="1250"/>
          </a:p>
        </p:txBody>
      </p:sp>
      <p:sp>
        <p:nvSpPr>
          <p:cNvPr id="16" name="!!Shape_14">
            <a:extLst>
              <a:ext uri="{FF2B5EF4-FFF2-40B4-BE49-F238E27FC236}">
                <a16:creationId xmlns:a16="http://schemas.microsoft.com/office/drawing/2014/main" id="{5EEC02BE-3029-4AF8-86DE-4ED0A8B4F8FF}"/>
              </a:ext>
            </a:extLst>
          </p:cNvPr>
          <p:cNvSpPr>
            <a:spLocks noGrp="1"/>
          </p:cNvSpPr>
          <p:nvPr/>
        </p:nvSpPr>
        <p:spPr>
          <a:xfrm>
            <a:off x="640080" y="446227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7" name="!!s2_Text_15">
            <a:extLst>
              <a:ext uri="{FF2B5EF4-FFF2-40B4-BE49-F238E27FC236}">
                <a16:creationId xmlns:a16="http://schemas.microsoft.com/office/drawing/2014/main" id="{4794267F-6F4B-49C3-8216-E2E3A7E2E45E}"/>
              </a:ext>
            </a:extLst>
          </p:cNvPr>
          <p:cNvSpPr>
            <a:spLocks noGrp="1"/>
          </p:cNvSpPr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窗口置顶</a:t>
            </a:r>
            <a:endParaRPr sz="1600"/>
          </a:p>
        </p:txBody>
      </p:sp>
      <p:sp>
        <p:nvSpPr>
          <p:cNvPr id="18" name="!!s2_Text_16">
            <a:extLst>
              <a:ext uri="{FF2B5EF4-FFF2-40B4-BE49-F238E27FC236}">
                <a16:creationId xmlns:a16="http://schemas.microsoft.com/office/drawing/2014/main" id="{576A6A67-8234-439B-AB6B-980ECBC06450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Ctrl + Alt + T 切换当前窗口置顶</a:t>
            </a:r>
            <a:endParaRPr sz="1250"/>
          </a:p>
        </p:txBody>
      </p:sp>
      <p:sp>
        <p:nvSpPr>
          <p:cNvPr id="19" name="!!Shape_17">
            <a:extLst>
              <a:ext uri="{FF2B5EF4-FFF2-40B4-BE49-F238E27FC236}">
                <a16:creationId xmlns:a16="http://schemas.microsoft.com/office/drawing/2014/main" id="{E2F5E95F-5C14-4B3D-A974-AF16FF524560}"/>
              </a:ext>
            </a:extLst>
          </p:cNvPr>
          <p:cNvSpPr>
            <a:spLocks noGrp="1"/>
          </p:cNvSpPr>
          <p:nvPr/>
        </p:nvSpPr>
        <p:spPr>
          <a:xfrm>
            <a:off x="640080" y="533095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20" name="!!s2_Text_18">
            <a:extLst>
              <a:ext uri="{FF2B5EF4-FFF2-40B4-BE49-F238E27FC236}">
                <a16:creationId xmlns:a16="http://schemas.microsoft.com/office/drawing/2014/main" id="{5EB60146-1101-4A52-9C32-3DCFF933EE1D}"/>
              </a:ext>
            </a:extLst>
          </p:cNvPr>
          <p:cNvSpPr>
            <a:spLocks noGrp="1"/>
          </p:cNvSpPr>
          <p:nvPr/>
        </p:nvSpPr>
        <p:spPr>
          <a:xfrm>
            <a:off x="86868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资源管理器右键菜单</a:t>
            </a:r>
            <a:endParaRPr sz="1600"/>
          </a:p>
        </p:txBody>
      </p:sp>
      <p:sp>
        <p:nvSpPr>
          <p:cNvPr id="21" name="!!s2_Text_19">
            <a:extLst>
              <a:ext uri="{FF2B5EF4-FFF2-40B4-BE49-F238E27FC236}">
                <a16:creationId xmlns:a16="http://schemas.microsoft.com/office/drawing/2014/main" id="{6F7C3448-F762-44F5-BBDF-69DFB333CC2A}"/>
              </a:ext>
            </a:extLst>
          </p:cNvPr>
          <p:cNvSpPr>
            <a:spLocks noGrp="1"/>
          </p:cNvSpPr>
          <p:nvPr/>
        </p:nvSpPr>
        <p:spPr>
          <a:xfrm>
            <a:off x="868680" y="562356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直达局域网分享、图片压缩和索引等功能</a:t>
            </a:r>
            <a:endParaRPr sz="1250"/>
          </a:p>
        </p:txBody>
      </p:sp>
      <p:pic>
        <p:nvPicPr>
          <p:cNvPr id="900" name="!!shot2a">
            <a:extLst>
              <a:ext uri="{FF2B5EF4-FFF2-40B4-BE49-F238E27FC236}">
                <a16:creationId xmlns:a16="http://schemas.microsoft.com/office/drawing/2014/main" id="{2EF876FB-6E97-4CEB-8EF5-AE0260CA14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" b="100"/>
          <a:stretch/>
        </p:blipFill>
        <p:spPr>
          <a:xfrm>
            <a:off x="6115050" y="2074187"/>
            <a:ext cx="5448300" cy="3309700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53" name="!!shot1a">
            <a:extLst>
              <a:ext uri="{FF2B5EF4-FFF2-40B4-BE49-F238E27FC236}">
                <a16:creationId xmlns:a16="http://schemas.microsoft.com/office/drawing/2014/main" id="{29193BEC-60ED-44DC-B0BB-30949913EB0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tretch/>
        </p:blipFill>
        <p:spPr>
          <a:xfrm>
            <a:off x="0" y="4036589"/>
            <a:ext cx="12700" cy="8433"/>
          </a:xfrm>
          <a:prstGeom prst="roundRect">
            <a:avLst>
              <a:gd name="adj" fmla="val 3387"/>
            </a:avLst>
          </a:prstGeom>
          <a:ln w="9525">
            <a:solidFill>
              <a:srgbClr val="D0D7E2"/>
            </a:solidFill>
          </a:ln>
          <a:effectLst/>
        </p:spPr>
      </p:pic>
      <p:pic>
        <p:nvPicPr>
          <p:cNvPr id="954" name="!!shot3a">
            <a:extLst>
              <a:ext uri="{FF2B5EF4-FFF2-40B4-BE49-F238E27FC236}">
                <a16:creationId xmlns:a16="http://schemas.microsoft.com/office/drawing/2014/main" id="{CF1E9C10-2C99-41B2-8882-3A189E092C7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 t="100" b="100"/>
          <a:stretch/>
        </p:blipFill>
        <p:spPr>
          <a:xfrm>
            <a:off x="12179300" y="2998929"/>
            <a:ext cx="12700" cy="12700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/>
        </p:spPr>
      </p:pic>
      <p:pic>
        <p:nvPicPr>
          <p:cNvPr id="955" name="!!shot3b">
            <a:extLst>
              <a:ext uri="{FF2B5EF4-FFF2-40B4-BE49-F238E27FC236}">
                <a16:creationId xmlns:a16="http://schemas.microsoft.com/office/drawing/2014/main" id="{E6FCDF36-7FF2-46A6-A5F8-ECFD278356A6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0"/>
          </a:blip>
          <a:stretch/>
        </p:blipFill>
        <p:spPr>
          <a:xfrm>
            <a:off x="12179300" y="4620470"/>
            <a:ext cx="12700" cy="10169"/>
          </a:xfrm>
          <a:prstGeom prst="roundRect">
            <a:avLst>
              <a:gd name="adj" fmla="val 4305"/>
            </a:avLst>
          </a:prstGeom>
          <a:ln w="9525">
            <a:solidFill>
              <a:srgbClr val="D0D7E2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4896806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 advTm="2230">
        <p159:morph option="byObject"/>
      </p:transition>
    </mc:Choice>
    <mc:Fallback>
      <p:transition spd="slow" advTm="223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hape_0">
            <a:extLst>
              <a:ext uri="{FF2B5EF4-FFF2-40B4-BE49-F238E27FC236}">
                <a16:creationId xmlns:a16="http://schemas.microsoft.com/office/drawing/2014/main" id="{2B134EA5-020C-49CD-B9CB-EDF2C981F478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!!Shape_1">
            <a:extLst>
              <a:ext uri="{FF2B5EF4-FFF2-40B4-BE49-F238E27FC236}">
                <a16:creationId xmlns:a16="http://schemas.microsoft.com/office/drawing/2014/main" id="{1B88E7B6-ACF2-4DF3-97B7-25A4B39CBF60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!!s3_Text_2">
            <a:extLst>
              <a:ext uri="{FF2B5EF4-FFF2-40B4-BE49-F238E27FC236}">
                <a16:creationId xmlns:a16="http://schemas.microsoft.com/office/drawing/2014/main" id="{7A84E0A8-71FA-42A5-877E-BCE43E529E16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QUICK LOOK</a:t>
            </a:r>
            <a:endParaRPr sz="1200"/>
          </a:p>
        </p:txBody>
      </p:sp>
      <p:sp>
        <p:nvSpPr>
          <p:cNvPr id="5" name="!!s3_Text_3">
            <a:extLst>
              <a:ext uri="{FF2B5EF4-FFF2-40B4-BE49-F238E27FC236}">
                <a16:creationId xmlns:a16="http://schemas.microsoft.com/office/drawing/2014/main" id="{508B5C0A-9518-407E-AAA6-58A6DADD0070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空格秒速文件预览：选中即看，无需打开</a:t>
            </a:r>
            <a:endParaRPr sz="3000"/>
          </a:p>
        </p:txBody>
      </p:sp>
      <p:sp>
        <p:nvSpPr>
          <p:cNvPr id="6" name="!!s3_Text_4">
            <a:extLst>
              <a:ext uri="{FF2B5EF4-FFF2-40B4-BE49-F238E27FC236}">
                <a16:creationId xmlns:a16="http://schemas.microsoft.com/office/drawing/2014/main" id="{7854C186-440E-4A17-B28D-349970950058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11  /  Kitopia</a:t>
            </a:r>
            <a:endParaRPr sz="900"/>
          </a:p>
        </p:txBody>
      </p:sp>
      <p:sp>
        <p:nvSpPr>
          <p:cNvPr id="7" name="!!Shape_5">
            <a:extLst>
              <a:ext uri="{FF2B5EF4-FFF2-40B4-BE49-F238E27FC236}">
                <a16:creationId xmlns:a16="http://schemas.microsoft.com/office/drawing/2014/main" id="{1C0ABE1A-9594-4192-A24D-72FAAC0AC07D}"/>
              </a:ext>
            </a:extLst>
          </p:cNvPr>
          <p:cNvSpPr>
            <a:spLocks noGrp="1"/>
          </p:cNvSpPr>
          <p:nvPr/>
        </p:nvSpPr>
        <p:spPr>
          <a:xfrm>
            <a:off x="640080" y="185623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8" name="!!s3_Text_6">
            <a:extLst>
              <a:ext uri="{FF2B5EF4-FFF2-40B4-BE49-F238E27FC236}">
                <a16:creationId xmlns:a16="http://schemas.microsoft.com/office/drawing/2014/main" id="{E1DC8FB2-034F-4561-A7A8-543A59FA142B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资源管理器空格预览</a:t>
            </a:r>
            <a:endParaRPr sz="1600"/>
          </a:p>
        </p:txBody>
      </p:sp>
      <p:sp>
        <p:nvSpPr>
          <p:cNvPr id="9" name="!!s3_Text_7">
            <a:extLst>
              <a:ext uri="{FF2B5EF4-FFF2-40B4-BE49-F238E27FC236}">
                <a16:creationId xmlns:a16="http://schemas.microsoft.com/office/drawing/2014/main" id="{98A0C5BD-3CC4-43AC-9A65-7144722D1808}"/>
              </a:ext>
            </a:extLst>
          </p:cNvPr>
          <p:cNvSpPr>
            <a:spLocks noGrp="1"/>
          </p:cNvSpPr>
          <p:nvPr/>
        </p:nvSpPr>
        <p:spPr>
          <a:xfrm>
            <a:off x="868680" y="214884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选中文件按空格，即刻弹出预览窗口</a:t>
            </a:r>
            <a:endParaRPr sz="1250"/>
          </a:p>
        </p:txBody>
      </p:sp>
      <p:sp>
        <p:nvSpPr>
          <p:cNvPr id="10" name="!!Shape_8">
            <a:extLst>
              <a:ext uri="{FF2B5EF4-FFF2-40B4-BE49-F238E27FC236}">
                <a16:creationId xmlns:a16="http://schemas.microsoft.com/office/drawing/2014/main" id="{9AFF2414-D379-4B93-974A-F45A8CAEA11C}"/>
              </a:ext>
            </a:extLst>
          </p:cNvPr>
          <p:cNvSpPr>
            <a:spLocks noGrp="1"/>
          </p:cNvSpPr>
          <p:nvPr/>
        </p:nvSpPr>
        <p:spPr>
          <a:xfrm>
            <a:off x="640080" y="272491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1" name="!!s3_Text_9">
            <a:extLst>
              <a:ext uri="{FF2B5EF4-FFF2-40B4-BE49-F238E27FC236}">
                <a16:creationId xmlns:a16="http://schemas.microsoft.com/office/drawing/2014/main" id="{69E52B5D-1597-4A5B-B7F3-E4AE8A47D109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搜索框预览模式</a:t>
            </a:r>
            <a:endParaRPr sz="1600"/>
          </a:p>
        </p:txBody>
      </p:sp>
      <p:sp>
        <p:nvSpPr>
          <p:cNvPr id="12" name="!!s3_Text_10">
            <a:extLst>
              <a:ext uri="{FF2B5EF4-FFF2-40B4-BE49-F238E27FC236}">
                <a16:creationId xmlns:a16="http://schemas.microsoft.com/office/drawing/2014/main" id="{CD714CF5-72A3-4548-882E-02BB6F826B34}"/>
              </a:ext>
            </a:extLst>
          </p:cNvPr>
          <p:cNvSpPr>
            <a:spLocks noGrp="1"/>
          </p:cNvSpPr>
          <p:nvPr/>
        </p:nvSpPr>
        <p:spPr>
          <a:xfrm>
            <a:off x="868680" y="301752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Alt + Space 搜索结果旁直接预览文件内容</a:t>
            </a:r>
            <a:endParaRPr sz="1250"/>
          </a:p>
        </p:txBody>
      </p:sp>
      <p:sp>
        <p:nvSpPr>
          <p:cNvPr id="13" name="!!Shape_11">
            <a:extLst>
              <a:ext uri="{FF2B5EF4-FFF2-40B4-BE49-F238E27FC236}">
                <a16:creationId xmlns:a16="http://schemas.microsoft.com/office/drawing/2014/main" id="{097E29FD-75B5-4C05-8651-94A0799D84AA}"/>
              </a:ext>
            </a:extLst>
          </p:cNvPr>
          <p:cNvSpPr>
            <a:spLocks noGrp="1"/>
          </p:cNvSpPr>
          <p:nvPr/>
        </p:nvSpPr>
        <p:spPr>
          <a:xfrm>
            <a:off x="640080" y="359359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4" name="!!s3_Text_12">
            <a:extLst>
              <a:ext uri="{FF2B5EF4-FFF2-40B4-BE49-F238E27FC236}">
                <a16:creationId xmlns:a16="http://schemas.microsoft.com/office/drawing/2014/main" id="{8023B2B2-3225-47F0-96DF-AB8D0D864DFA}"/>
              </a:ext>
            </a:extLst>
          </p:cNvPr>
          <p:cNvSpPr>
            <a:spLocks noGrp="1"/>
          </p:cNvSpPr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文档阅读工具</a:t>
            </a:r>
            <a:endParaRPr sz="1600"/>
          </a:p>
        </p:txBody>
      </p:sp>
      <p:sp>
        <p:nvSpPr>
          <p:cNvPr id="15" name="!!s3_Text_13">
            <a:extLst>
              <a:ext uri="{FF2B5EF4-FFF2-40B4-BE49-F238E27FC236}">
                <a16:creationId xmlns:a16="http://schemas.microsoft.com/office/drawing/2014/main" id="{81116CEC-A9FB-449F-BF31-D3FFDDCFE5A9}"/>
              </a:ext>
            </a:extLst>
          </p:cNvPr>
          <p:cNvSpPr>
            <a:spLocks noGrp="1"/>
          </p:cNvSpPr>
          <p:nvPr/>
        </p:nvSpPr>
        <p:spPr>
          <a:xfrm>
            <a:off x="868680" y="388620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PDF 支持缩放、翻页、旋转与搜索</a:t>
            </a:r>
            <a:endParaRPr sz="1250"/>
          </a:p>
        </p:txBody>
      </p:sp>
      <p:sp>
        <p:nvSpPr>
          <p:cNvPr id="16" name="!!Shape_14">
            <a:extLst>
              <a:ext uri="{FF2B5EF4-FFF2-40B4-BE49-F238E27FC236}">
                <a16:creationId xmlns:a16="http://schemas.microsoft.com/office/drawing/2014/main" id="{58ABFA53-8E78-4BA4-B0C3-1B6E53A784ED}"/>
              </a:ext>
            </a:extLst>
          </p:cNvPr>
          <p:cNvSpPr>
            <a:spLocks noGrp="1"/>
          </p:cNvSpPr>
          <p:nvPr/>
        </p:nvSpPr>
        <p:spPr>
          <a:xfrm>
            <a:off x="640080" y="446227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17" name="!!s3_Text_15">
            <a:extLst>
              <a:ext uri="{FF2B5EF4-FFF2-40B4-BE49-F238E27FC236}">
                <a16:creationId xmlns:a16="http://schemas.microsoft.com/office/drawing/2014/main" id="{BB9EA067-B0AD-4C5C-990E-38A4ED4A70D4}"/>
              </a:ext>
            </a:extLst>
          </p:cNvPr>
          <p:cNvSpPr>
            <a:spLocks noGrp="1"/>
          </p:cNvSpPr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一键打开文件</a:t>
            </a:r>
            <a:endParaRPr sz="1600"/>
          </a:p>
        </p:txBody>
      </p:sp>
      <p:sp>
        <p:nvSpPr>
          <p:cNvPr id="18" name="!!s3_Text_16">
            <a:extLst>
              <a:ext uri="{FF2B5EF4-FFF2-40B4-BE49-F238E27FC236}">
                <a16:creationId xmlns:a16="http://schemas.microsoft.com/office/drawing/2014/main" id="{945D827F-0983-4AE4-9B33-BD7F4D576892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点击「打开文件」，用默认程序继续编辑</a:t>
            </a:r>
            <a:endParaRPr sz="1250"/>
          </a:p>
        </p:txBody>
      </p:sp>
      <p:sp>
        <p:nvSpPr>
          <p:cNvPr id="19" name="!!Shape_17">
            <a:extLst>
              <a:ext uri="{FF2B5EF4-FFF2-40B4-BE49-F238E27FC236}">
                <a16:creationId xmlns:a16="http://schemas.microsoft.com/office/drawing/2014/main" id="{07D4819B-EC82-4C2C-A299-1B2B33D90164}"/>
              </a:ext>
            </a:extLst>
          </p:cNvPr>
          <p:cNvSpPr>
            <a:spLocks noGrp="1"/>
          </p:cNvSpPr>
          <p:nvPr/>
        </p:nvSpPr>
        <p:spPr>
          <a:xfrm>
            <a:off x="640080" y="5330952"/>
            <a:ext cx="73152" cy="548640"/>
          </a:xfrm>
          <a:prstGeom prst="roundRect">
            <a:avLst>
              <a:gd name="adj" fmla="val 50000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20" name="!!s3_Text_18">
            <a:extLst>
              <a:ext uri="{FF2B5EF4-FFF2-40B4-BE49-F238E27FC236}">
                <a16:creationId xmlns:a16="http://schemas.microsoft.com/office/drawing/2014/main" id="{4E031353-F92A-43D8-B041-A09AD7404026}"/>
              </a:ext>
            </a:extLst>
          </p:cNvPr>
          <p:cNvSpPr>
            <a:spLocks noGrp="1"/>
          </p:cNvSpPr>
          <p:nvPr/>
        </p:nvSpPr>
        <p:spPr>
          <a:xfrm>
            <a:off x="86868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全屏与文件信息</a:t>
            </a:r>
            <a:endParaRPr sz="1600"/>
          </a:p>
        </p:txBody>
      </p:sp>
      <p:sp>
        <p:nvSpPr>
          <p:cNvPr id="21" name="!!s3_Text_19">
            <a:extLst>
              <a:ext uri="{FF2B5EF4-FFF2-40B4-BE49-F238E27FC236}">
                <a16:creationId xmlns:a16="http://schemas.microsoft.com/office/drawing/2014/main" id="{4F968833-06F5-4920-B3F9-F453FDBBD267}"/>
              </a:ext>
            </a:extLst>
          </p:cNvPr>
          <p:cNvSpPr>
            <a:spLocks noGrp="1"/>
          </p:cNvSpPr>
          <p:nvPr/>
        </p:nvSpPr>
        <p:spPr>
          <a:xfrm>
            <a:off x="868680" y="5623560"/>
            <a:ext cx="493776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可全屏查看，底部显示大小与修改时间</a:t>
            </a:r>
            <a:endParaRPr sz="1250"/>
          </a:p>
        </p:txBody>
      </p:sp>
      <p:pic>
        <p:nvPicPr>
          <p:cNvPr id="900" name="!!shot3a">
            <a:extLst>
              <a:ext uri="{FF2B5EF4-FFF2-40B4-BE49-F238E27FC236}">
                <a16:creationId xmlns:a16="http://schemas.microsoft.com/office/drawing/2014/main" id="{CF1E9C10-2C99-41B2-8882-3A189E092C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" b="100"/>
          <a:stretch/>
        </p:blipFill>
        <p:spPr>
          <a:xfrm>
            <a:off x="7178040" y="1417320"/>
            <a:ext cx="4389120" cy="3163218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22000"/>
              </a:srgbClr>
            </a:outerShdw>
          </a:effectLst>
        </p:spPr>
      </p:pic>
      <p:pic>
        <p:nvPicPr>
          <p:cNvPr id="901" name="!!shot3b">
            <a:extLst>
              <a:ext uri="{FF2B5EF4-FFF2-40B4-BE49-F238E27FC236}">
                <a16:creationId xmlns:a16="http://schemas.microsoft.com/office/drawing/2014/main" id="{E6FCDF36-7FF2-46A6-A5F8-ECFD278356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43600" y="3154680"/>
            <a:ext cx="3657600" cy="2929050"/>
          </a:xfrm>
          <a:prstGeom prst="roundRect">
            <a:avLst>
              <a:gd name="adj" fmla="val 4305"/>
            </a:avLst>
          </a:prstGeom>
          <a:ln w="9525">
            <a:solidFill>
              <a:srgbClr val="D0D7E2"/>
            </a:solidFill>
          </a:ln>
          <a:effectLst>
            <a:outerShdw blurRad="190500" dist="38100" dir="5400000" algn="t" rotWithShape="0">
              <a:srgbClr val="1B2A4A">
                <a:alpha val="14000"/>
              </a:srgbClr>
            </a:outerShdw>
          </a:effectLst>
        </p:spPr>
      </p:pic>
      <p:pic>
        <p:nvPicPr>
          <p:cNvPr id="956" name="!!shot2a">
            <a:extLst>
              <a:ext uri="{FF2B5EF4-FFF2-40B4-BE49-F238E27FC236}">
                <a16:creationId xmlns:a16="http://schemas.microsoft.com/office/drawing/2014/main" id="{2EF876FB-6E97-4CEB-8EF5-AE0260CA14F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rcRect t="100" b="100"/>
          <a:stretch/>
        </p:blipFill>
        <p:spPr>
          <a:xfrm>
            <a:off x="0" y="3729037"/>
            <a:ext cx="12700" cy="12700"/>
          </a:xfrm>
          <a:prstGeom prst="roundRect">
            <a:avLst>
              <a:gd name="adj" fmla="val 3177"/>
            </a:avLst>
          </a:prstGeom>
          <a:ln w="9525">
            <a:solidFill>
              <a:srgbClr val="D0D7E2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24284071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 advTm="2230">
        <p159:morph option="byObject"/>
      </p:transition>
    </mc:Choice>
    <mc:Fallback>
      <p:transition spd="slow" advTm="223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hape_0">
            <a:extLst>
              <a:ext uri="{FF2B5EF4-FFF2-40B4-BE49-F238E27FC236}">
                <a16:creationId xmlns:a16="http://schemas.microsoft.com/office/drawing/2014/main" id="{F1805B02-8B59-48C2-B49B-1AC56A98A606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!!Shape_1">
            <a:extLst>
              <a:ext uri="{FF2B5EF4-FFF2-40B4-BE49-F238E27FC236}">
                <a16:creationId xmlns:a16="http://schemas.microsoft.com/office/drawing/2014/main" id="{0404F43D-F07F-4488-BD99-7C36FD722D3B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!!s12_Text_2">
            <a:extLst>
              <a:ext uri="{FF2B5EF4-FFF2-40B4-BE49-F238E27FC236}">
                <a16:creationId xmlns:a16="http://schemas.microsoft.com/office/drawing/2014/main" id="{E404644D-1A7F-4830-B737-6775D1219517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ECOSYSTEM</a:t>
            </a:r>
            <a:endParaRPr sz="1200"/>
          </a:p>
        </p:txBody>
      </p:sp>
      <p:sp>
        <p:nvSpPr>
          <p:cNvPr id="5" name="!!s12_Text_3">
            <a:extLst>
              <a:ext uri="{FF2B5EF4-FFF2-40B4-BE49-F238E27FC236}">
                <a16:creationId xmlns:a16="http://schemas.microsoft.com/office/drawing/2014/main" id="{363D34ED-3AE0-4D1B-B161-E42A1869B994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插件中心与持续扩展的能力生态</a:t>
            </a:r>
            <a:endParaRPr sz="3000"/>
          </a:p>
        </p:txBody>
      </p:sp>
      <p:sp>
        <p:nvSpPr>
          <p:cNvPr id="6" name="!!s12_Text_4">
            <a:extLst>
              <a:ext uri="{FF2B5EF4-FFF2-40B4-BE49-F238E27FC236}">
                <a16:creationId xmlns:a16="http://schemas.microsoft.com/office/drawing/2014/main" id="{956C3C35-C235-4158-82CB-2ABCB65DA1D8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12  /  Kitopia</a:t>
            </a:r>
            <a:endParaRPr sz="900"/>
          </a:p>
        </p:txBody>
      </p:sp>
      <p:sp>
        <p:nvSpPr>
          <p:cNvPr id="7" name="!!Shape_5">
            <a:extLst>
              <a:ext uri="{FF2B5EF4-FFF2-40B4-BE49-F238E27FC236}">
                <a16:creationId xmlns:a16="http://schemas.microsoft.com/office/drawing/2014/main" id="{20145AF5-521A-46FE-9FCC-267E5AC99AE2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4206240" cy="44348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!!Shape_6">
            <a:extLst>
              <a:ext uri="{FF2B5EF4-FFF2-40B4-BE49-F238E27FC236}">
                <a16:creationId xmlns:a16="http://schemas.microsoft.com/office/drawing/2014/main" id="{576B78F3-2ECD-4990-A5D7-E14955BC1B0E}"/>
              </a:ext>
            </a:extLst>
          </p:cNvPr>
          <p:cNvSpPr>
            <a:spLocks noGrp="1"/>
          </p:cNvSpPr>
          <p:nvPr/>
        </p:nvSpPr>
        <p:spPr>
          <a:xfrm>
            <a:off x="960120" y="20116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9" name="!!s12_Text_7">
            <a:extLst>
              <a:ext uri="{FF2B5EF4-FFF2-40B4-BE49-F238E27FC236}">
                <a16:creationId xmlns:a16="http://schemas.microsoft.com/office/drawing/2014/main" id="{CCD02A11-9F97-442E-A2A2-18130C2FA73C}"/>
              </a:ext>
            </a:extLst>
          </p:cNvPr>
          <p:cNvSpPr>
            <a:spLocks noGrp="1"/>
          </p:cNvSpPr>
          <p:nvPr/>
        </p:nvSpPr>
        <p:spPr>
          <a:xfrm>
            <a:off x="96012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插</a:t>
            </a:r>
            <a:endParaRPr sz="1600"/>
          </a:p>
        </p:txBody>
      </p:sp>
      <p:sp>
        <p:nvSpPr>
          <p:cNvPr id="10" name="!!s12_Text_8">
            <a:extLst>
              <a:ext uri="{FF2B5EF4-FFF2-40B4-BE49-F238E27FC236}">
                <a16:creationId xmlns:a16="http://schemas.microsoft.com/office/drawing/2014/main" id="{4E6A9531-2D38-48DE-B94E-3CF1311739C4}"/>
              </a:ext>
            </a:extLst>
          </p:cNvPr>
          <p:cNvSpPr>
            <a:spLocks noGrp="1"/>
          </p:cNvSpPr>
          <p:nvPr/>
        </p:nvSpPr>
        <p:spPr>
          <a:xfrm>
            <a:off x="960120" y="27889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插件中心</a:t>
            </a:r>
            <a:endParaRPr sz="2200"/>
          </a:p>
        </p:txBody>
      </p:sp>
      <p:sp>
        <p:nvSpPr>
          <p:cNvPr id="11" name="!!s12_Text_9">
            <a:extLst>
              <a:ext uri="{FF2B5EF4-FFF2-40B4-BE49-F238E27FC236}">
                <a16:creationId xmlns:a16="http://schemas.microsoft.com/office/drawing/2014/main" id="{61DFB0C6-56EC-40C2-BB1F-1EED324033D3}"/>
              </a:ext>
            </a:extLst>
          </p:cNvPr>
          <p:cNvSpPr>
            <a:spLocks noGrp="1"/>
          </p:cNvSpPr>
          <p:nvPr/>
        </p:nvSpPr>
        <p:spPr>
          <a:xfrm>
            <a:off x="960120" y="3337560"/>
            <a:ext cx="361188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用户友好的插件管理界面，一键安装与管理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开发者使用 Plugin SDK 开发拓展功能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插件市场支持评分、标签与下载进度显示</a:t>
            </a:r>
            <a:endParaRPr sz="1300"/>
          </a:p>
        </p:txBody>
      </p:sp>
      <p:sp>
        <p:nvSpPr>
          <p:cNvPr id="12" name="!!s12_Text_10">
            <a:extLst>
              <a:ext uri="{FF2B5EF4-FFF2-40B4-BE49-F238E27FC236}">
                <a16:creationId xmlns:a16="http://schemas.microsoft.com/office/drawing/2014/main" id="{BB018123-F8DB-4ACA-B122-6D53C0417DDC}"/>
              </a:ext>
            </a:extLst>
          </p:cNvPr>
          <p:cNvSpPr>
            <a:spLocks noGrp="1"/>
          </p:cNvSpPr>
          <p:nvPr/>
        </p:nvSpPr>
        <p:spPr>
          <a:xfrm>
            <a:off x="960120" y="5486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欢迎提交 PR 或开发插件 →</a:t>
            </a:r>
            <a:endParaRPr sz="1200"/>
          </a:p>
        </p:txBody>
      </p:sp>
      <p:sp>
        <p:nvSpPr>
          <p:cNvPr id="13" name="!!Shape_11">
            <a:extLst>
              <a:ext uri="{FF2B5EF4-FFF2-40B4-BE49-F238E27FC236}">
                <a16:creationId xmlns:a16="http://schemas.microsoft.com/office/drawing/2014/main" id="{F35F2C65-E6E1-4DCE-B7AF-7F3C92CB4C63}"/>
              </a:ext>
            </a:extLst>
          </p:cNvPr>
          <p:cNvSpPr>
            <a:spLocks noGrp="1"/>
          </p:cNvSpPr>
          <p:nvPr/>
        </p:nvSpPr>
        <p:spPr>
          <a:xfrm>
            <a:off x="5074920" y="169164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!!Shape_12">
            <a:extLst>
              <a:ext uri="{FF2B5EF4-FFF2-40B4-BE49-F238E27FC236}">
                <a16:creationId xmlns:a16="http://schemas.microsoft.com/office/drawing/2014/main" id="{0886D7D5-BF33-4C37-B9C3-3D84888BA3E0}"/>
              </a:ext>
            </a:extLst>
          </p:cNvPr>
          <p:cNvSpPr>
            <a:spLocks noGrp="1"/>
          </p:cNvSpPr>
          <p:nvPr/>
        </p:nvSpPr>
        <p:spPr>
          <a:xfrm>
            <a:off x="5303520" y="20574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8A5CF6"/>
          </a:solidFill>
        </p:spPr>
        <p:txBody>
          <a:bodyPr/>
          <a:lstStyle/>
          <a:p>
            <a:endParaRPr/>
          </a:p>
        </p:txBody>
      </p:sp>
      <p:sp>
        <p:nvSpPr>
          <p:cNvPr id="15" name="!!s12_Text_13">
            <a:extLst>
              <a:ext uri="{FF2B5EF4-FFF2-40B4-BE49-F238E27FC236}">
                <a16:creationId xmlns:a16="http://schemas.microsoft.com/office/drawing/2014/main" id="{7D7BE6F0-8AA9-44B6-9011-F65E0DE9AA6B}"/>
              </a:ext>
            </a:extLst>
          </p:cNvPr>
          <p:cNvSpPr>
            <a:spLocks noGrp="1"/>
          </p:cNvSpPr>
          <p:nvPr/>
        </p:nvSpPr>
        <p:spPr>
          <a:xfrm>
            <a:off x="5303520" y="20574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</a:t>
            </a:r>
            <a:endParaRPr sz="1600"/>
          </a:p>
        </p:txBody>
      </p:sp>
      <p:sp>
        <p:nvSpPr>
          <p:cNvPr id="16" name="!!s12_Text_14">
            <a:extLst>
              <a:ext uri="{FF2B5EF4-FFF2-40B4-BE49-F238E27FC236}">
                <a16:creationId xmlns:a16="http://schemas.microsoft.com/office/drawing/2014/main" id="{ED21CA0B-F780-4BCA-8A77-C9F7BC5008E9}"/>
              </a:ext>
            </a:extLst>
          </p:cNvPr>
          <p:cNvSpPr>
            <a:spLocks noGrp="1"/>
          </p:cNvSpPr>
          <p:nvPr/>
        </p:nvSpPr>
        <p:spPr>
          <a:xfrm>
            <a:off x="6035040" y="19476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本地 AI 推理</a:t>
            </a:r>
            <a:endParaRPr sz="1450"/>
          </a:p>
        </p:txBody>
      </p:sp>
      <p:sp>
        <p:nvSpPr>
          <p:cNvPr id="17" name="!!s12_Text_15">
            <a:extLst>
              <a:ext uri="{FF2B5EF4-FFF2-40B4-BE49-F238E27FC236}">
                <a16:creationId xmlns:a16="http://schemas.microsoft.com/office/drawing/2014/main" id="{DEE6207F-F78F-43EF-80B6-90A162456C1C}"/>
              </a:ext>
            </a:extLst>
          </p:cNvPr>
          <p:cNvSpPr>
            <a:spLocks noGrp="1"/>
          </p:cNvSpPr>
          <p:nvPr/>
        </p:nvSpPr>
        <p:spPr>
          <a:xfrm>
            <a:off x="6035040" y="233172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ONNX：CPU / GPU / OpenVINO</a:t>
            </a:r>
            <a:endParaRPr sz="1100"/>
          </a:p>
        </p:txBody>
      </p:sp>
      <p:sp>
        <p:nvSpPr>
          <p:cNvPr id="18" name="!!Shape_16">
            <a:extLst>
              <a:ext uri="{FF2B5EF4-FFF2-40B4-BE49-F238E27FC236}">
                <a16:creationId xmlns:a16="http://schemas.microsoft.com/office/drawing/2014/main" id="{799EA89A-A063-4C9F-97F8-4355FA2DCEAB}"/>
              </a:ext>
            </a:extLst>
          </p:cNvPr>
          <p:cNvSpPr>
            <a:spLocks noGrp="1"/>
          </p:cNvSpPr>
          <p:nvPr/>
        </p:nvSpPr>
        <p:spPr>
          <a:xfrm>
            <a:off x="8366760" y="169164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!!Shape_17">
            <a:extLst>
              <a:ext uri="{FF2B5EF4-FFF2-40B4-BE49-F238E27FC236}">
                <a16:creationId xmlns:a16="http://schemas.microsoft.com/office/drawing/2014/main" id="{A587D434-C946-4BBE-BB5C-FBFD06974116}"/>
              </a:ext>
            </a:extLst>
          </p:cNvPr>
          <p:cNvSpPr>
            <a:spLocks noGrp="1"/>
          </p:cNvSpPr>
          <p:nvPr/>
        </p:nvSpPr>
        <p:spPr>
          <a:xfrm>
            <a:off x="8595360" y="20574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E8A7E"/>
          </a:solidFill>
        </p:spPr>
        <p:txBody>
          <a:bodyPr/>
          <a:lstStyle/>
          <a:p>
            <a:endParaRPr/>
          </a:p>
        </p:txBody>
      </p:sp>
      <p:sp>
        <p:nvSpPr>
          <p:cNvPr id="20" name="!!s12_Text_18">
            <a:extLst>
              <a:ext uri="{FF2B5EF4-FFF2-40B4-BE49-F238E27FC236}">
                <a16:creationId xmlns:a16="http://schemas.microsoft.com/office/drawing/2014/main" id="{55C2E9FE-6D4F-4470-BAA0-1FAE75B9F98B}"/>
              </a:ext>
            </a:extLst>
          </p:cNvPr>
          <p:cNvSpPr>
            <a:spLocks noGrp="1"/>
          </p:cNvSpPr>
          <p:nvPr/>
        </p:nvSpPr>
        <p:spPr>
          <a:xfrm>
            <a:off x="8595360" y="20574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右</a:t>
            </a:r>
            <a:endParaRPr sz="1600"/>
          </a:p>
        </p:txBody>
      </p:sp>
      <p:sp>
        <p:nvSpPr>
          <p:cNvPr id="21" name="!!s12_Text_19">
            <a:extLst>
              <a:ext uri="{FF2B5EF4-FFF2-40B4-BE49-F238E27FC236}">
                <a16:creationId xmlns:a16="http://schemas.microsoft.com/office/drawing/2014/main" id="{73F46AAD-A4F3-4730-8298-448461282323}"/>
              </a:ext>
            </a:extLst>
          </p:cNvPr>
          <p:cNvSpPr>
            <a:spLocks noGrp="1"/>
          </p:cNvSpPr>
          <p:nvPr/>
        </p:nvSpPr>
        <p:spPr>
          <a:xfrm>
            <a:off x="9326880" y="19476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右键菜单集成</a:t>
            </a:r>
            <a:endParaRPr sz="1450"/>
          </a:p>
        </p:txBody>
      </p:sp>
      <p:sp>
        <p:nvSpPr>
          <p:cNvPr id="22" name="!!s12_Text_20">
            <a:extLst>
              <a:ext uri="{FF2B5EF4-FFF2-40B4-BE49-F238E27FC236}">
                <a16:creationId xmlns:a16="http://schemas.microsoft.com/office/drawing/2014/main" id="{E2861B57-788C-44B8-9344-971BA3636D65}"/>
              </a:ext>
            </a:extLst>
          </p:cNvPr>
          <p:cNvSpPr>
            <a:spLocks noGrp="1"/>
          </p:cNvSpPr>
          <p:nvPr/>
        </p:nvSpPr>
        <p:spPr>
          <a:xfrm>
            <a:off x="9326880" y="233172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资源管理器右键直达常用功能</a:t>
            </a:r>
            <a:endParaRPr sz="1100"/>
          </a:p>
        </p:txBody>
      </p:sp>
      <p:sp>
        <p:nvSpPr>
          <p:cNvPr id="23" name="!!Shape_21">
            <a:extLst>
              <a:ext uri="{FF2B5EF4-FFF2-40B4-BE49-F238E27FC236}">
                <a16:creationId xmlns:a16="http://schemas.microsoft.com/office/drawing/2014/main" id="{6C073968-9E2D-465F-84B4-B3DBA90DBB9C}"/>
              </a:ext>
            </a:extLst>
          </p:cNvPr>
          <p:cNvSpPr>
            <a:spLocks noGrp="1"/>
          </p:cNvSpPr>
          <p:nvPr/>
        </p:nvSpPr>
        <p:spPr>
          <a:xfrm>
            <a:off x="5074920" y="320040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!!Shape_22">
            <a:extLst>
              <a:ext uri="{FF2B5EF4-FFF2-40B4-BE49-F238E27FC236}">
                <a16:creationId xmlns:a16="http://schemas.microsoft.com/office/drawing/2014/main" id="{68E104F6-6B40-4F6B-882F-1126C8B334A3}"/>
              </a:ext>
            </a:extLst>
          </p:cNvPr>
          <p:cNvSpPr>
            <a:spLocks noGrp="1"/>
          </p:cNvSpPr>
          <p:nvPr/>
        </p:nvSpPr>
        <p:spPr>
          <a:xfrm>
            <a:off x="5303520" y="35661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9480F"/>
          </a:solidFill>
        </p:spPr>
        <p:txBody>
          <a:bodyPr/>
          <a:lstStyle/>
          <a:p>
            <a:endParaRPr/>
          </a:p>
        </p:txBody>
      </p:sp>
      <p:sp>
        <p:nvSpPr>
          <p:cNvPr id="25" name="!!s12_Text_23">
            <a:extLst>
              <a:ext uri="{FF2B5EF4-FFF2-40B4-BE49-F238E27FC236}">
                <a16:creationId xmlns:a16="http://schemas.microsoft.com/office/drawing/2014/main" id="{2F9A36AF-6469-4AC7-94BF-8DE9E1C7822F}"/>
              </a:ext>
            </a:extLst>
          </p:cNvPr>
          <p:cNvSpPr>
            <a:spLocks noGrp="1"/>
          </p:cNvSpPr>
          <p:nvPr/>
        </p:nvSpPr>
        <p:spPr>
          <a:xfrm>
            <a:off x="5303520" y="35661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</a:t>
            </a:r>
            <a:endParaRPr sz="1600"/>
          </a:p>
        </p:txBody>
      </p:sp>
      <p:sp>
        <p:nvSpPr>
          <p:cNvPr id="26" name="!!s12_Text_24">
            <a:extLst>
              <a:ext uri="{FF2B5EF4-FFF2-40B4-BE49-F238E27FC236}">
                <a16:creationId xmlns:a16="http://schemas.microsoft.com/office/drawing/2014/main" id="{F71CBE33-36C0-4B3E-B78D-5E191AFE0BEB}"/>
              </a:ext>
            </a:extLst>
          </p:cNvPr>
          <p:cNvSpPr>
            <a:spLocks noGrp="1"/>
          </p:cNvSpPr>
          <p:nvPr/>
        </p:nvSpPr>
        <p:spPr>
          <a:xfrm>
            <a:off x="6035040" y="345643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通知中心</a:t>
            </a:r>
            <a:endParaRPr sz="1450"/>
          </a:p>
        </p:txBody>
      </p:sp>
      <p:sp>
        <p:nvSpPr>
          <p:cNvPr id="27" name="!!s12_Text_25">
            <a:extLst>
              <a:ext uri="{FF2B5EF4-FFF2-40B4-BE49-F238E27FC236}">
                <a16:creationId xmlns:a16="http://schemas.microsoft.com/office/drawing/2014/main" id="{47D6A0A7-28E2-41E3-B2FC-203E80F7A9EF}"/>
              </a:ext>
            </a:extLst>
          </p:cNvPr>
          <p:cNvSpPr>
            <a:spLocks noGrp="1"/>
          </p:cNvSpPr>
          <p:nvPr/>
        </p:nvSpPr>
        <p:spPr>
          <a:xfrm>
            <a:off x="6035040" y="384048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统一收纳通知，一键清除全部</a:t>
            </a:r>
            <a:endParaRPr sz="1100"/>
          </a:p>
        </p:txBody>
      </p:sp>
      <p:sp>
        <p:nvSpPr>
          <p:cNvPr id="28" name="!!Shape_26">
            <a:extLst>
              <a:ext uri="{FF2B5EF4-FFF2-40B4-BE49-F238E27FC236}">
                <a16:creationId xmlns:a16="http://schemas.microsoft.com/office/drawing/2014/main" id="{D0D4ABD1-A0D7-4D04-B65F-1EE08D880C21}"/>
              </a:ext>
            </a:extLst>
          </p:cNvPr>
          <p:cNvSpPr>
            <a:spLocks noGrp="1"/>
          </p:cNvSpPr>
          <p:nvPr/>
        </p:nvSpPr>
        <p:spPr>
          <a:xfrm>
            <a:off x="8366760" y="320040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!!Shape_27">
            <a:extLst>
              <a:ext uri="{FF2B5EF4-FFF2-40B4-BE49-F238E27FC236}">
                <a16:creationId xmlns:a16="http://schemas.microsoft.com/office/drawing/2014/main" id="{1254914D-62A1-45F7-8291-3DCE9E417BE2}"/>
              </a:ext>
            </a:extLst>
          </p:cNvPr>
          <p:cNvSpPr>
            <a:spLocks noGrp="1"/>
          </p:cNvSpPr>
          <p:nvPr/>
        </p:nvSpPr>
        <p:spPr>
          <a:xfrm>
            <a:off x="8595360" y="35661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30" name="!!s12_Text_28">
            <a:extLst>
              <a:ext uri="{FF2B5EF4-FFF2-40B4-BE49-F238E27FC236}">
                <a16:creationId xmlns:a16="http://schemas.microsoft.com/office/drawing/2014/main" id="{BC60ED35-B6FA-4445-8106-D2A8B195D845}"/>
              </a:ext>
            </a:extLst>
          </p:cNvPr>
          <p:cNvSpPr>
            <a:spLocks noGrp="1"/>
          </p:cNvSpPr>
          <p:nvPr/>
        </p:nvSpPr>
        <p:spPr>
          <a:xfrm>
            <a:off x="8595360" y="35661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</a:t>
            </a:r>
            <a:endParaRPr sz="1600"/>
          </a:p>
        </p:txBody>
      </p:sp>
      <p:sp>
        <p:nvSpPr>
          <p:cNvPr id="31" name="!!s12_Text_29">
            <a:extLst>
              <a:ext uri="{FF2B5EF4-FFF2-40B4-BE49-F238E27FC236}">
                <a16:creationId xmlns:a16="http://schemas.microsoft.com/office/drawing/2014/main" id="{02310218-F3AE-48CB-9011-572B76304C86}"/>
              </a:ext>
            </a:extLst>
          </p:cNvPr>
          <p:cNvSpPr>
            <a:spLocks noGrp="1"/>
          </p:cNvSpPr>
          <p:nvPr/>
        </p:nvSpPr>
        <p:spPr>
          <a:xfrm>
            <a:off x="9326880" y="345643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自动更新</a:t>
            </a:r>
            <a:endParaRPr sz="1450"/>
          </a:p>
        </p:txBody>
      </p:sp>
      <p:sp>
        <p:nvSpPr>
          <p:cNvPr id="32" name="!!s12_Text_30">
            <a:extLst>
              <a:ext uri="{FF2B5EF4-FFF2-40B4-BE49-F238E27FC236}">
                <a16:creationId xmlns:a16="http://schemas.microsoft.com/office/drawing/2014/main" id="{4D157EB4-723E-4703-A134-A833D7E09FC2}"/>
              </a:ext>
            </a:extLst>
          </p:cNvPr>
          <p:cNvSpPr>
            <a:spLocks noGrp="1"/>
          </p:cNvSpPr>
          <p:nvPr/>
        </p:nvSpPr>
        <p:spPr>
          <a:xfrm>
            <a:off x="9326880" y="384048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支持静默安装，可选预发布版本</a:t>
            </a:r>
            <a:endParaRPr sz="1100"/>
          </a:p>
        </p:txBody>
      </p:sp>
      <p:sp>
        <p:nvSpPr>
          <p:cNvPr id="33" name="!!Shape_31">
            <a:extLst>
              <a:ext uri="{FF2B5EF4-FFF2-40B4-BE49-F238E27FC236}">
                <a16:creationId xmlns:a16="http://schemas.microsoft.com/office/drawing/2014/main" id="{3A3CEFD6-BDCA-43B7-96BD-86709F83C915}"/>
              </a:ext>
            </a:extLst>
          </p:cNvPr>
          <p:cNvSpPr>
            <a:spLocks noGrp="1"/>
          </p:cNvSpPr>
          <p:nvPr/>
        </p:nvSpPr>
        <p:spPr>
          <a:xfrm>
            <a:off x="5074920" y="47091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!!Shape_32">
            <a:extLst>
              <a:ext uri="{FF2B5EF4-FFF2-40B4-BE49-F238E27FC236}">
                <a16:creationId xmlns:a16="http://schemas.microsoft.com/office/drawing/2014/main" id="{2640F068-35F0-43C0-B637-33834FE482EA}"/>
              </a:ext>
            </a:extLst>
          </p:cNvPr>
          <p:cNvSpPr>
            <a:spLocks noGrp="1"/>
          </p:cNvSpPr>
          <p:nvPr/>
        </p:nvSpPr>
        <p:spPr>
          <a:xfrm>
            <a:off x="5303520" y="50749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C9AE0"/>
          </a:solidFill>
        </p:spPr>
        <p:txBody>
          <a:bodyPr/>
          <a:lstStyle/>
          <a:p>
            <a:endParaRPr/>
          </a:p>
        </p:txBody>
      </p:sp>
      <p:sp>
        <p:nvSpPr>
          <p:cNvPr id="35" name="!!s12_Text_33">
            <a:extLst>
              <a:ext uri="{FF2B5EF4-FFF2-40B4-BE49-F238E27FC236}">
                <a16:creationId xmlns:a16="http://schemas.microsoft.com/office/drawing/2014/main" id="{7AD5DBBE-F86A-4877-BC99-CCFEFE9B37CD}"/>
              </a:ext>
            </a:extLst>
          </p:cNvPr>
          <p:cNvSpPr>
            <a:spLocks noGrp="1"/>
          </p:cNvSpPr>
          <p:nvPr/>
        </p:nvSpPr>
        <p:spPr>
          <a:xfrm>
            <a:off x="5303520" y="50749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色</a:t>
            </a:r>
            <a:endParaRPr sz="1600"/>
          </a:p>
        </p:txBody>
      </p:sp>
      <p:sp>
        <p:nvSpPr>
          <p:cNvPr id="36" name="!!s12_Text_34">
            <a:extLst>
              <a:ext uri="{FF2B5EF4-FFF2-40B4-BE49-F238E27FC236}">
                <a16:creationId xmlns:a16="http://schemas.microsoft.com/office/drawing/2014/main" id="{F4BC6776-C55E-40D5-B8C4-16A31C8ED0CA}"/>
              </a:ext>
            </a:extLst>
          </p:cNvPr>
          <p:cNvSpPr>
            <a:spLocks noGrp="1"/>
          </p:cNvSpPr>
          <p:nvPr/>
        </p:nvSpPr>
        <p:spPr>
          <a:xfrm>
            <a:off x="6035040" y="496519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个性化主题</a:t>
            </a:r>
            <a:endParaRPr sz="1450"/>
          </a:p>
        </p:txBody>
      </p:sp>
      <p:sp>
        <p:nvSpPr>
          <p:cNvPr id="37" name="!!s12_Text_35">
            <a:extLst>
              <a:ext uri="{FF2B5EF4-FFF2-40B4-BE49-F238E27FC236}">
                <a16:creationId xmlns:a16="http://schemas.microsoft.com/office/drawing/2014/main" id="{40C498B5-0832-4723-A700-C4D69D2D1C38}"/>
              </a:ext>
            </a:extLst>
          </p:cNvPr>
          <p:cNvSpPr>
            <a:spLocks noGrp="1"/>
          </p:cNvSpPr>
          <p:nvPr/>
        </p:nvSpPr>
        <p:spPr>
          <a:xfrm>
            <a:off x="6035040" y="534924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跟随系统主题色或自定义</a:t>
            </a:r>
            <a:endParaRPr sz="1100"/>
          </a:p>
        </p:txBody>
      </p:sp>
      <p:sp>
        <p:nvSpPr>
          <p:cNvPr id="38" name="!!Shape_36">
            <a:extLst>
              <a:ext uri="{FF2B5EF4-FFF2-40B4-BE49-F238E27FC236}">
                <a16:creationId xmlns:a16="http://schemas.microsoft.com/office/drawing/2014/main" id="{CBDCA831-BF00-4BFA-B62F-9922FD713534}"/>
              </a:ext>
            </a:extLst>
          </p:cNvPr>
          <p:cNvSpPr>
            <a:spLocks noGrp="1"/>
          </p:cNvSpPr>
          <p:nvPr/>
        </p:nvSpPr>
        <p:spPr>
          <a:xfrm>
            <a:off x="8366760" y="47091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!!Shape_37">
            <a:extLst>
              <a:ext uri="{FF2B5EF4-FFF2-40B4-BE49-F238E27FC236}">
                <a16:creationId xmlns:a16="http://schemas.microsoft.com/office/drawing/2014/main" id="{C4DA9DAD-67DA-4797-BA06-5F1D69815903}"/>
              </a:ext>
            </a:extLst>
          </p:cNvPr>
          <p:cNvSpPr>
            <a:spLocks noGrp="1"/>
          </p:cNvSpPr>
          <p:nvPr/>
        </p:nvSpPr>
        <p:spPr>
          <a:xfrm>
            <a:off x="8595360" y="50749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5B6474"/>
          </a:solidFill>
        </p:spPr>
        <p:txBody>
          <a:bodyPr/>
          <a:lstStyle/>
          <a:p>
            <a:endParaRPr/>
          </a:p>
        </p:txBody>
      </p:sp>
      <p:sp>
        <p:nvSpPr>
          <p:cNvPr id="40" name="!!s12_Text_38">
            <a:extLst>
              <a:ext uri="{FF2B5EF4-FFF2-40B4-BE49-F238E27FC236}">
                <a16:creationId xmlns:a16="http://schemas.microsoft.com/office/drawing/2014/main" id="{08ABDCD6-F128-4DEA-B03F-779DEF7DD670}"/>
              </a:ext>
            </a:extLst>
          </p:cNvPr>
          <p:cNvSpPr>
            <a:spLocks noGrp="1"/>
          </p:cNvSpPr>
          <p:nvPr/>
        </p:nvSpPr>
        <p:spPr>
          <a:xfrm>
            <a:off x="8595360" y="50749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</a:t>
            </a:r>
            <a:endParaRPr sz="1600"/>
          </a:p>
        </p:txBody>
      </p:sp>
      <p:sp>
        <p:nvSpPr>
          <p:cNvPr id="41" name="!!s12_Text_39">
            <a:extLst>
              <a:ext uri="{FF2B5EF4-FFF2-40B4-BE49-F238E27FC236}">
                <a16:creationId xmlns:a16="http://schemas.microsoft.com/office/drawing/2014/main" id="{CB85D56B-5A92-4733-9244-502C5997279B}"/>
              </a:ext>
            </a:extLst>
          </p:cNvPr>
          <p:cNvSpPr>
            <a:spLocks noGrp="1"/>
          </p:cNvSpPr>
          <p:nvPr/>
        </p:nvSpPr>
        <p:spPr>
          <a:xfrm>
            <a:off x="9326880" y="496519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多语言</a:t>
            </a:r>
            <a:endParaRPr sz="1450"/>
          </a:p>
        </p:txBody>
      </p:sp>
      <p:sp>
        <p:nvSpPr>
          <p:cNvPr id="42" name="!!s12_Text_40">
            <a:extLst>
              <a:ext uri="{FF2B5EF4-FFF2-40B4-BE49-F238E27FC236}">
                <a16:creationId xmlns:a16="http://schemas.microsoft.com/office/drawing/2014/main" id="{146C2165-1765-48DB-971B-F65A50879349}"/>
              </a:ext>
            </a:extLst>
          </p:cNvPr>
          <p:cNvSpPr>
            <a:spLocks noGrp="1"/>
          </p:cNvSpPr>
          <p:nvPr/>
        </p:nvSpPr>
        <p:spPr>
          <a:xfrm>
            <a:off x="9326880" y="534924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中文 / English 本地化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08023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 advTm="6250">
        <p14:flythrough/>
      </p:transition>
    </mc:Choice>
    <mc:Fallback>
      <p:transition spd="med" advTm="62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 fill="hold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 fill="hold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 fill="hold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 fill="hold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 fill="hold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 fill="hold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 fill="hold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 fill="hold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 fill="hold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 fill="hold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 fill="hold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 fill="hold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Shape_0">
            <a:extLst>
              <a:ext uri="{FF2B5EF4-FFF2-40B4-BE49-F238E27FC236}">
                <a16:creationId xmlns:a16="http://schemas.microsoft.com/office/drawing/2014/main" id="{4316B65D-FE81-4B97-8913-E48CA46863E4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!!Shape_1">
            <a:extLst>
              <a:ext uri="{FF2B5EF4-FFF2-40B4-BE49-F238E27FC236}">
                <a16:creationId xmlns:a16="http://schemas.microsoft.com/office/drawing/2014/main" id="{A9A01D2D-16DE-43C1-A19D-C104D19DCF2F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12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!!s13_Text_2">
            <a:extLst>
              <a:ext uri="{FF2B5EF4-FFF2-40B4-BE49-F238E27FC236}">
                <a16:creationId xmlns:a16="http://schemas.microsoft.com/office/drawing/2014/main" id="{F79C62ED-CD62-4AAE-A0D9-1CB42EA034AE}"/>
              </a:ext>
            </a:extLst>
          </p:cNvPr>
          <p:cNvSpPr>
            <a:spLocks noGrp="1"/>
          </p:cNvSpPr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200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DEVELOPER GUIDE</a:t>
            </a:r>
            <a:endParaRPr sz="1200"/>
          </a:p>
        </p:txBody>
      </p:sp>
      <p:sp>
        <p:nvSpPr>
          <p:cNvPr id="5" name="!!s13_Text_3">
            <a:extLst>
              <a:ext uri="{FF2B5EF4-FFF2-40B4-BE49-F238E27FC236}">
                <a16:creationId xmlns:a16="http://schemas.microsoft.com/office/drawing/2014/main" id="{7C5FD8B0-F313-437C-A496-5DE399B155BC}"/>
              </a:ext>
            </a:extLst>
          </p:cNvPr>
          <p:cNvSpPr>
            <a:spLocks noGrp="1"/>
          </p:cNvSpPr>
          <p:nvPr/>
        </p:nvSpPr>
        <p:spPr>
          <a:xfrm>
            <a:off x="640080" y="73152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插件开发者指南：六步打造你的 Kitopia 插件</a:t>
            </a:r>
            <a:endParaRPr sz="3000"/>
          </a:p>
        </p:txBody>
      </p:sp>
      <p:sp>
        <p:nvSpPr>
          <p:cNvPr id="6" name="!!s13_Text_4">
            <a:extLst>
              <a:ext uri="{FF2B5EF4-FFF2-40B4-BE49-F238E27FC236}">
                <a16:creationId xmlns:a16="http://schemas.microsoft.com/office/drawing/2014/main" id="{30B5B155-5988-4539-9830-BB25378D7F2A}"/>
              </a:ext>
            </a:extLst>
          </p:cNvPr>
          <p:cNvSpPr>
            <a:spLocks noGrp="1"/>
          </p:cNvSpPr>
          <p:nvPr/>
        </p:nvSpPr>
        <p:spPr>
          <a:xfrm>
            <a:off x="9418320" y="6400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8A93A3"/>
                </a:solidFill>
                <a:latin typeface="Microsoft YaHei"/>
                <a:ea typeface="Microsoft YaHei"/>
                <a:cs typeface="Microsoft YaHei"/>
              </a:rPr>
              <a:t>13  /  Kitopia</a:t>
            </a:r>
            <a:endParaRPr sz="900"/>
          </a:p>
        </p:txBody>
      </p:sp>
      <p:sp>
        <p:nvSpPr>
          <p:cNvPr id="7" name="!!Shape_5">
            <a:extLst>
              <a:ext uri="{FF2B5EF4-FFF2-40B4-BE49-F238E27FC236}">
                <a16:creationId xmlns:a16="http://schemas.microsoft.com/office/drawing/2014/main" id="{99646175-03A9-46BB-879D-08AB1CCD6801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4206240" cy="44348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!!Shape_6">
            <a:extLst>
              <a:ext uri="{FF2B5EF4-FFF2-40B4-BE49-F238E27FC236}">
                <a16:creationId xmlns:a16="http://schemas.microsoft.com/office/drawing/2014/main" id="{19498F31-A023-4254-8FD7-CBDECD751BF4}"/>
              </a:ext>
            </a:extLst>
          </p:cNvPr>
          <p:cNvSpPr>
            <a:spLocks noGrp="1"/>
          </p:cNvSpPr>
          <p:nvPr/>
        </p:nvSpPr>
        <p:spPr>
          <a:xfrm>
            <a:off x="960120" y="20116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9" name="!!s13_Text_7">
            <a:extLst>
              <a:ext uri="{FF2B5EF4-FFF2-40B4-BE49-F238E27FC236}">
                <a16:creationId xmlns:a16="http://schemas.microsoft.com/office/drawing/2014/main" id="{B33426AA-0F90-4F8A-B1F8-C2D525A8880D}"/>
              </a:ext>
            </a:extLst>
          </p:cNvPr>
          <p:cNvSpPr>
            <a:spLocks noGrp="1"/>
          </p:cNvSpPr>
          <p:nvPr/>
        </p:nvSpPr>
        <p:spPr>
          <a:xfrm>
            <a:off x="96012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&lt;/&gt;</a:t>
            </a:r>
            <a:endParaRPr sz="1600"/>
          </a:p>
        </p:txBody>
      </p:sp>
      <p:sp>
        <p:nvSpPr>
          <p:cNvPr id="10" name="!!s13_Text_8">
            <a:extLst>
              <a:ext uri="{FF2B5EF4-FFF2-40B4-BE49-F238E27FC236}">
                <a16:creationId xmlns:a16="http://schemas.microsoft.com/office/drawing/2014/main" id="{8569ACD7-293E-41AC-A454-64BB77C74163}"/>
              </a:ext>
            </a:extLst>
          </p:cNvPr>
          <p:cNvSpPr>
            <a:spLocks noGrp="1"/>
          </p:cNvSpPr>
          <p:nvPr/>
        </p:nvSpPr>
        <p:spPr>
          <a:xfrm>
            <a:off x="960120" y="27889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插件是怎样运行的</a:t>
            </a:r>
            <a:endParaRPr sz="2200"/>
          </a:p>
        </p:txBody>
      </p:sp>
      <p:sp>
        <p:nvSpPr>
          <p:cNvPr id="11" name="!!s13_Text_9">
            <a:extLst>
              <a:ext uri="{FF2B5EF4-FFF2-40B4-BE49-F238E27FC236}">
                <a16:creationId xmlns:a16="http://schemas.microsoft.com/office/drawing/2014/main" id="{27B9FD19-31AF-432C-BB84-0665637C55F9}"/>
              </a:ext>
            </a:extLst>
          </p:cNvPr>
          <p:cNvSpPr>
            <a:spLocks noGrp="1"/>
          </p:cNvSpPr>
          <p:nvPr/>
        </p:nvSpPr>
        <p:spPr>
          <a:xfrm>
            <a:off x="960120" y="3337560"/>
            <a:ext cx="361188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每个插件运行在独立的 AssemblyLoadContext 中，隔离加载、可安全卸载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宿主按 Init → Load → Enable 管理插件生命周期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支持插件依赖其他插件；可参考官方插件 KitopiaEx</a:t>
            </a:r>
            <a:endParaRPr sz="1300"/>
          </a:p>
        </p:txBody>
      </p:sp>
      <p:sp>
        <p:nvSpPr>
          <p:cNvPr id="12" name="!!s13_Text_10">
            <a:extLst>
              <a:ext uri="{FF2B5EF4-FFF2-40B4-BE49-F238E27FC236}">
                <a16:creationId xmlns:a16="http://schemas.microsoft.com/office/drawing/2014/main" id="{395D6E93-10F7-4D21-AF26-8AE18A9B5E94}"/>
              </a:ext>
            </a:extLst>
          </p:cNvPr>
          <p:cNvSpPr>
            <a:spLocks noGrp="1"/>
          </p:cNvSpPr>
          <p:nvPr/>
        </p:nvSpPr>
        <p:spPr>
          <a:xfrm>
            <a:off x="960120" y="5486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67C0"/>
                </a:solidFill>
                <a:latin typeface="Microsoft YaHei"/>
                <a:ea typeface="Microsoft YaHei"/>
                <a:cs typeface="Microsoft YaHei"/>
              </a:rPr>
              <a:t>Plugin SDK：Kitopia.Desktop.PluginSdk →</a:t>
            </a:r>
            <a:endParaRPr sz="1200"/>
          </a:p>
        </p:txBody>
      </p:sp>
      <p:sp>
        <p:nvSpPr>
          <p:cNvPr id="13" name="!!Shape_11">
            <a:extLst>
              <a:ext uri="{FF2B5EF4-FFF2-40B4-BE49-F238E27FC236}">
                <a16:creationId xmlns:a16="http://schemas.microsoft.com/office/drawing/2014/main" id="{67400043-3BEE-4458-97C8-EB4487D388A8}"/>
              </a:ext>
            </a:extLst>
          </p:cNvPr>
          <p:cNvSpPr>
            <a:spLocks noGrp="1"/>
          </p:cNvSpPr>
          <p:nvPr/>
        </p:nvSpPr>
        <p:spPr>
          <a:xfrm>
            <a:off x="5074920" y="169164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!!Shape_12">
            <a:extLst>
              <a:ext uri="{FF2B5EF4-FFF2-40B4-BE49-F238E27FC236}">
                <a16:creationId xmlns:a16="http://schemas.microsoft.com/office/drawing/2014/main" id="{011B46A4-07DF-499F-A469-5B3C8832505F}"/>
              </a:ext>
            </a:extLst>
          </p:cNvPr>
          <p:cNvSpPr>
            <a:spLocks noGrp="1"/>
          </p:cNvSpPr>
          <p:nvPr/>
        </p:nvSpPr>
        <p:spPr>
          <a:xfrm>
            <a:off x="5303520" y="20574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8A5CF6"/>
          </a:solidFill>
        </p:spPr>
        <p:txBody>
          <a:bodyPr/>
          <a:lstStyle/>
          <a:p>
            <a:endParaRPr/>
          </a:p>
        </p:txBody>
      </p:sp>
      <p:sp>
        <p:nvSpPr>
          <p:cNvPr id="15" name="!!s13_Text_13">
            <a:extLst>
              <a:ext uri="{FF2B5EF4-FFF2-40B4-BE49-F238E27FC236}">
                <a16:creationId xmlns:a16="http://schemas.microsoft.com/office/drawing/2014/main" id="{20B743FD-F4B2-4913-A891-6D20D3ED04F7}"/>
              </a:ext>
            </a:extLst>
          </p:cNvPr>
          <p:cNvSpPr>
            <a:spLocks noGrp="1"/>
          </p:cNvSpPr>
          <p:nvPr/>
        </p:nvSpPr>
        <p:spPr>
          <a:xfrm>
            <a:off x="5303520" y="20574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600"/>
          </a:p>
        </p:txBody>
      </p:sp>
      <p:sp>
        <p:nvSpPr>
          <p:cNvPr id="16" name="!!s13_Text_14">
            <a:extLst>
              <a:ext uri="{FF2B5EF4-FFF2-40B4-BE49-F238E27FC236}">
                <a16:creationId xmlns:a16="http://schemas.microsoft.com/office/drawing/2014/main" id="{4E570E41-36F5-452F-8C16-6A44BA57DB89}"/>
              </a:ext>
            </a:extLst>
          </p:cNvPr>
          <p:cNvSpPr>
            <a:spLocks noGrp="1"/>
          </p:cNvSpPr>
          <p:nvPr/>
        </p:nvSpPr>
        <p:spPr>
          <a:xfrm>
            <a:off x="6035040" y="19476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新建类库项目</a:t>
            </a:r>
            <a:endParaRPr sz="1450"/>
          </a:p>
        </p:txBody>
      </p:sp>
      <p:sp>
        <p:nvSpPr>
          <p:cNvPr id="17" name="!!s13_Text_15">
            <a:extLst>
              <a:ext uri="{FF2B5EF4-FFF2-40B4-BE49-F238E27FC236}">
                <a16:creationId xmlns:a16="http://schemas.microsoft.com/office/drawing/2014/main" id="{285AA6DE-3909-49C7-8DE0-3F46D1914D1F}"/>
              </a:ext>
            </a:extLst>
          </p:cNvPr>
          <p:cNvSpPr>
            <a:spLocks noGrp="1"/>
          </p:cNvSpPr>
          <p:nvPr/>
        </p:nvSpPr>
        <p:spPr>
          <a:xfrm>
            <a:off x="6035040" y="233172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标准 .NET 类库，按要求配置 .csproj</a:t>
            </a:r>
            <a:endParaRPr sz="1100"/>
          </a:p>
        </p:txBody>
      </p:sp>
      <p:sp>
        <p:nvSpPr>
          <p:cNvPr id="18" name="!!Shape_16">
            <a:extLst>
              <a:ext uri="{FF2B5EF4-FFF2-40B4-BE49-F238E27FC236}">
                <a16:creationId xmlns:a16="http://schemas.microsoft.com/office/drawing/2014/main" id="{BE69F6EA-7B33-4B6C-9147-FC411AB9D957}"/>
              </a:ext>
            </a:extLst>
          </p:cNvPr>
          <p:cNvSpPr>
            <a:spLocks noGrp="1"/>
          </p:cNvSpPr>
          <p:nvPr/>
        </p:nvSpPr>
        <p:spPr>
          <a:xfrm>
            <a:off x="8366760" y="169164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!!Shape_17">
            <a:extLst>
              <a:ext uri="{FF2B5EF4-FFF2-40B4-BE49-F238E27FC236}">
                <a16:creationId xmlns:a16="http://schemas.microsoft.com/office/drawing/2014/main" id="{3BD06A7A-95DC-430A-A4E6-CE5EA60290DA}"/>
              </a:ext>
            </a:extLst>
          </p:cNvPr>
          <p:cNvSpPr>
            <a:spLocks noGrp="1"/>
          </p:cNvSpPr>
          <p:nvPr/>
        </p:nvSpPr>
        <p:spPr>
          <a:xfrm>
            <a:off x="8595360" y="20574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E8A7E"/>
          </a:solidFill>
        </p:spPr>
        <p:txBody>
          <a:bodyPr/>
          <a:lstStyle/>
          <a:p>
            <a:endParaRPr/>
          </a:p>
        </p:txBody>
      </p:sp>
      <p:sp>
        <p:nvSpPr>
          <p:cNvPr id="20" name="!!s13_Text_18">
            <a:extLst>
              <a:ext uri="{FF2B5EF4-FFF2-40B4-BE49-F238E27FC236}">
                <a16:creationId xmlns:a16="http://schemas.microsoft.com/office/drawing/2014/main" id="{5517CB80-F97F-4544-B05B-42D80C2DB346}"/>
              </a:ext>
            </a:extLst>
          </p:cNvPr>
          <p:cNvSpPr>
            <a:spLocks noGrp="1"/>
          </p:cNvSpPr>
          <p:nvPr/>
        </p:nvSpPr>
        <p:spPr>
          <a:xfrm>
            <a:off x="8595360" y="20574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600"/>
          </a:p>
        </p:txBody>
      </p:sp>
      <p:sp>
        <p:nvSpPr>
          <p:cNvPr id="21" name="!!s13_Text_19">
            <a:extLst>
              <a:ext uri="{FF2B5EF4-FFF2-40B4-BE49-F238E27FC236}">
                <a16:creationId xmlns:a16="http://schemas.microsoft.com/office/drawing/2014/main" id="{C2C85F9D-8249-4687-B35F-7AC67355F74C}"/>
              </a:ext>
            </a:extLst>
          </p:cNvPr>
          <p:cNvSpPr>
            <a:spLocks noGrp="1"/>
          </p:cNvSpPr>
          <p:nvPr/>
        </p:nvSpPr>
        <p:spPr>
          <a:xfrm>
            <a:off x="9326880" y="19476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引用 Plugin SDK</a:t>
            </a:r>
            <a:endParaRPr sz="1450"/>
          </a:p>
        </p:txBody>
      </p:sp>
      <p:sp>
        <p:nvSpPr>
          <p:cNvPr id="22" name="!!s13_Text_20">
            <a:extLst>
              <a:ext uri="{FF2B5EF4-FFF2-40B4-BE49-F238E27FC236}">
                <a16:creationId xmlns:a16="http://schemas.microsoft.com/office/drawing/2014/main" id="{7F0A758B-72E9-4196-935F-4A9E7206ECA5}"/>
              </a:ext>
            </a:extLst>
          </p:cNvPr>
          <p:cNvSpPr>
            <a:spLocks noGrp="1"/>
          </p:cNvSpPr>
          <p:nvPr/>
        </p:nvSpPr>
        <p:spPr>
          <a:xfrm>
            <a:off x="9326880" y="233172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获取截图、剪贴板、通知等宿主接口</a:t>
            </a:r>
            <a:endParaRPr sz="1100"/>
          </a:p>
        </p:txBody>
      </p:sp>
      <p:sp>
        <p:nvSpPr>
          <p:cNvPr id="23" name="!!Shape_21">
            <a:extLst>
              <a:ext uri="{FF2B5EF4-FFF2-40B4-BE49-F238E27FC236}">
                <a16:creationId xmlns:a16="http://schemas.microsoft.com/office/drawing/2014/main" id="{2F4FFDE3-306D-4008-B187-CA756FA2B2A0}"/>
              </a:ext>
            </a:extLst>
          </p:cNvPr>
          <p:cNvSpPr>
            <a:spLocks noGrp="1"/>
          </p:cNvSpPr>
          <p:nvPr/>
        </p:nvSpPr>
        <p:spPr>
          <a:xfrm>
            <a:off x="5074920" y="320040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!!Shape_22">
            <a:extLst>
              <a:ext uri="{FF2B5EF4-FFF2-40B4-BE49-F238E27FC236}">
                <a16:creationId xmlns:a16="http://schemas.microsoft.com/office/drawing/2014/main" id="{C280C574-F4A7-400C-A17B-3CBDD191FE94}"/>
              </a:ext>
            </a:extLst>
          </p:cNvPr>
          <p:cNvSpPr>
            <a:spLocks noGrp="1"/>
          </p:cNvSpPr>
          <p:nvPr/>
        </p:nvSpPr>
        <p:spPr>
          <a:xfrm>
            <a:off x="5303520" y="35661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9480F"/>
          </a:solidFill>
        </p:spPr>
        <p:txBody>
          <a:bodyPr/>
          <a:lstStyle/>
          <a:p>
            <a:endParaRPr/>
          </a:p>
        </p:txBody>
      </p:sp>
      <p:sp>
        <p:nvSpPr>
          <p:cNvPr id="25" name="!!s13_Text_23">
            <a:extLst>
              <a:ext uri="{FF2B5EF4-FFF2-40B4-BE49-F238E27FC236}">
                <a16:creationId xmlns:a16="http://schemas.microsoft.com/office/drawing/2014/main" id="{D64F214C-965E-4164-B842-2BCD64615F3B}"/>
              </a:ext>
            </a:extLst>
          </p:cNvPr>
          <p:cNvSpPr>
            <a:spLocks noGrp="1"/>
          </p:cNvSpPr>
          <p:nvPr/>
        </p:nvSpPr>
        <p:spPr>
          <a:xfrm>
            <a:off x="5303520" y="35661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600"/>
          </a:p>
        </p:txBody>
      </p:sp>
      <p:sp>
        <p:nvSpPr>
          <p:cNvPr id="26" name="!!s13_Text_24">
            <a:extLst>
              <a:ext uri="{FF2B5EF4-FFF2-40B4-BE49-F238E27FC236}">
                <a16:creationId xmlns:a16="http://schemas.microsoft.com/office/drawing/2014/main" id="{4F966B0E-3CDF-4A85-BDA4-8E8C410ED34E}"/>
              </a:ext>
            </a:extLst>
          </p:cNvPr>
          <p:cNvSpPr>
            <a:spLocks noGrp="1"/>
          </p:cNvSpPr>
          <p:nvPr/>
        </p:nvSpPr>
        <p:spPr>
          <a:xfrm>
            <a:off x="6035040" y="345643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编写 manifest.json</a:t>
            </a:r>
            <a:endParaRPr sz="1450"/>
          </a:p>
        </p:txBody>
      </p:sp>
      <p:sp>
        <p:nvSpPr>
          <p:cNvPr id="27" name="!!s13_Text_25">
            <a:extLst>
              <a:ext uri="{FF2B5EF4-FFF2-40B4-BE49-F238E27FC236}">
                <a16:creationId xmlns:a16="http://schemas.microsoft.com/office/drawing/2014/main" id="{F9255AEA-3533-42DE-B2FA-647CB6E3C37A}"/>
              </a:ext>
            </a:extLst>
          </p:cNvPr>
          <p:cNvSpPr>
            <a:spLocks noGrp="1"/>
          </p:cNvSpPr>
          <p:nvPr/>
        </p:nvSpPr>
        <p:spPr>
          <a:xfrm>
            <a:off x="6035040" y="384048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声明 Id、Name、Main 与 Dependencies</a:t>
            </a:r>
            <a:endParaRPr sz="1100"/>
          </a:p>
        </p:txBody>
      </p:sp>
      <p:sp>
        <p:nvSpPr>
          <p:cNvPr id="28" name="!!Shape_26">
            <a:extLst>
              <a:ext uri="{FF2B5EF4-FFF2-40B4-BE49-F238E27FC236}">
                <a16:creationId xmlns:a16="http://schemas.microsoft.com/office/drawing/2014/main" id="{3DB2A1E9-BAA9-4F86-8B4C-8DA9431C0011}"/>
              </a:ext>
            </a:extLst>
          </p:cNvPr>
          <p:cNvSpPr>
            <a:spLocks noGrp="1"/>
          </p:cNvSpPr>
          <p:nvPr/>
        </p:nvSpPr>
        <p:spPr>
          <a:xfrm>
            <a:off x="8366760" y="320040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!!Shape_27">
            <a:extLst>
              <a:ext uri="{FF2B5EF4-FFF2-40B4-BE49-F238E27FC236}">
                <a16:creationId xmlns:a16="http://schemas.microsoft.com/office/drawing/2014/main" id="{FC5AE866-4D8C-499C-8182-812BFF7F683A}"/>
              </a:ext>
            </a:extLst>
          </p:cNvPr>
          <p:cNvSpPr>
            <a:spLocks noGrp="1"/>
          </p:cNvSpPr>
          <p:nvPr/>
        </p:nvSpPr>
        <p:spPr>
          <a:xfrm>
            <a:off x="8595360" y="35661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067C0"/>
          </a:solidFill>
        </p:spPr>
        <p:txBody>
          <a:bodyPr/>
          <a:lstStyle/>
          <a:p>
            <a:endParaRPr/>
          </a:p>
        </p:txBody>
      </p:sp>
      <p:sp>
        <p:nvSpPr>
          <p:cNvPr id="30" name="!!s13_Text_28">
            <a:extLst>
              <a:ext uri="{FF2B5EF4-FFF2-40B4-BE49-F238E27FC236}">
                <a16:creationId xmlns:a16="http://schemas.microsoft.com/office/drawing/2014/main" id="{A2F0F4DA-905D-47BD-87E9-302B9922D7BD}"/>
              </a:ext>
            </a:extLst>
          </p:cNvPr>
          <p:cNvSpPr>
            <a:spLocks noGrp="1"/>
          </p:cNvSpPr>
          <p:nvPr/>
        </p:nvSpPr>
        <p:spPr>
          <a:xfrm>
            <a:off x="8595360" y="35661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1600"/>
          </a:p>
        </p:txBody>
      </p:sp>
      <p:sp>
        <p:nvSpPr>
          <p:cNvPr id="31" name="!!s13_Text_29">
            <a:extLst>
              <a:ext uri="{FF2B5EF4-FFF2-40B4-BE49-F238E27FC236}">
                <a16:creationId xmlns:a16="http://schemas.microsoft.com/office/drawing/2014/main" id="{9E624F16-2627-48ED-BBEC-43C4F8749DFA}"/>
              </a:ext>
            </a:extLst>
          </p:cNvPr>
          <p:cNvSpPr>
            <a:spLocks noGrp="1"/>
          </p:cNvSpPr>
          <p:nvPr/>
        </p:nvSpPr>
        <p:spPr>
          <a:xfrm>
            <a:off x="9326880" y="345643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实现 IPlugin</a:t>
            </a:r>
            <a:endParaRPr sz="1450"/>
          </a:p>
        </p:txBody>
      </p:sp>
      <p:sp>
        <p:nvSpPr>
          <p:cNvPr id="32" name="!!s13_Text_30">
            <a:extLst>
              <a:ext uri="{FF2B5EF4-FFF2-40B4-BE49-F238E27FC236}">
                <a16:creationId xmlns:a16="http://schemas.microsoft.com/office/drawing/2014/main" id="{B905F971-EA81-4D4F-972E-6E07304D0CFD}"/>
              </a:ext>
            </a:extLst>
          </p:cNvPr>
          <p:cNvSpPr>
            <a:spLocks noGrp="1"/>
          </p:cNvSpPr>
          <p:nvPr/>
        </p:nvSpPr>
        <p:spPr>
          <a:xfrm>
            <a:off x="9326880" y="384048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处理 OnEnabled / OnDisabled 生命周期</a:t>
            </a:r>
            <a:endParaRPr sz="1100"/>
          </a:p>
        </p:txBody>
      </p:sp>
      <p:sp>
        <p:nvSpPr>
          <p:cNvPr id="33" name="!!Shape_31">
            <a:extLst>
              <a:ext uri="{FF2B5EF4-FFF2-40B4-BE49-F238E27FC236}">
                <a16:creationId xmlns:a16="http://schemas.microsoft.com/office/drawing/2014/main" id="{0CDA894D-D844-4981-A01B-B815928510A4}"/>
              </a:ext>
            </a:extLst>
          </p:cNvPr>
          <p:cNvSpPr>
            <a:spLocks noGrp="1"/>
          </p:cNvSpPr>
          <p:nvPr/>
        </p:nvSpPr>
        <p:spPr>
          <a:xfrm>
            <a:off x="5074920" y="47091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!!Shape_32">
            <a:extLst>
              <a:ext uri="{FF2B5EF4-FFF2-40B4-BE49-F238E27FC236}">
                <a16:creationId xmlns:a16="http://schemas.microsoft.com/office/drawing/2014/main" id="{3D05A96F-19A9-4F4D-9469-F604EAF0ACE1}"/>
              </a:ext>
            </a:extLst>
          </p:cNvPr>
          <p:cNvSpPr>
            <a:spLocks noGrp="1"/>
          </p:cNvSpPr>
          <p:nvPr/>
        </p:nvSpPr>
        <p:spPr>
          <a:xfrm>
            <a:off x="5303520" y="50749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C9AE0"/>
          </a:solidFill>
        </p:spPr>
        <p:txBody>
          <a:bodyPr/>
          <a:lstStyle/>
          <a:p>
            <a:endParaRPr/>
          </a:p>
        </p:txBody>
      </p:sp>
      <p:sp>
        <p:nvSpPr>
          <p:cNvPr id="35" name="!!s13_Text_33">
            <a:extLst>
              <a:ext uri="{FF2B5EF4-FFF2-40B4-BE49-F238E27FC236}">
                <a16:creationId xmlns:a16="http://schemas.microsoft.com/office/drawing/2014/main" id="{228BD5F7-1AF8-4214-A362-74ABFC0E34F2}"/>
              </a:ext>
            </a:extLst>
          </p:cNvPr>
          <p:cNvSpPr>
            <a:spLocks noGrp="1"/>
          </p:cNvSpPr>
          <p:nvPr/>
        </p:nvSpPr>
        <p:spPr>
          <a:xfrm>
            <a:off x="5303520" y="50749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1600"/>
          </a:p>
        </p:txBody>
      </p:sp>
      <p:sp>
        <p:nvSpPr>
          <p:cNvPr id="36" name="!!s13_Text_34">
            <a:extLst>
              <a:ext uri="{FF2B5EF4-FFF2-40B4-BE49-F238E27FC236}">
                <a16:creationId xmlns:a16="http://schemas.microsoft.com/office/drawing/2014/main" id="{4D9C89DA-9D4B-45DB-A4EF-2C134456FD13}"/>
              </a:ext>
            </a:extLst>
          </p:cNvPr>
          <p:cNvSpPr>
            <a:spLocks noGrp="1"/>
          </p:cNvSpPr>
          <p:nvPr/>
        </p:nvSpPr>
        <p:spPr>
          <a:xfrm>
            <a:off x="6035040" y="496519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注册服务与情景方法</a:t>
            </a:r>
            <a:endParaRPr sz="1450"/>
          </a:p>
        </p:txBody>
      </p:sp>
      <p:sp>
        <p:nvSpPr>
          <p:cNvPr id="37" name="!!s13_Text_35">
            <a:extLst>
              <a:ext uri="{FF2B5EF4-FFF2-40B4-BE49-F238E27FC236}">
                <a16:creationId xmlns:a16="http://schemas.microsoft.com/office/drawing/2014/main" id="{F04E5DE4-2546-4FF2-AB55-C7F7CA1CA89B}"/>
              </a:ext>
            </a:extLst>
          </p:cNvPr>
          <p:cNvSpPr>
            <a:spLocks noGrp="1"/>
          </p:cNvSpPr>
          <p:nvPr/>
        </p:nvSpPr>
        <p:spPr>
          <a:xfrm>
            <a:off x="6035040" y="534924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通过 ServiceCollection 暴露节点能力</a:t>
            </a:r>
            <a:endParaRPr sz="1100"/>
          </a:p>
        </p:txBody>
      </p:sp>
      <p:sp>
        <p:nvSpPr>
          <p:cNvPr id="38" name="!!Shape_36">
            <a:extLst>
              <a:ext uri="{FF2B5EF4-FFF2-40B4-BE49-F238E27FC236}">
                <a16:creationId xmlns:a16="http://schemas.microsoft.com/office/drawing/2014/main" id="{1E1AEDF4-F797-43DA-9337-3A38C6D5FAC0}"/>
              </a:ext>
            </a:extLst>
          </p:cNvPr>
          <p:cNvSpPr>
            <a:spLocks noGrp="1"/>
          </p:cNvSpPr>
          <p:nvPr/>
        </p:nvSpPr>
        <p:spPr>
          <a:xfrm>
            <a:off x="8366760" y="4709160"/>
            <a:ext cx="3108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blurRad="127000" dist="25400" dir="5400000" algn="bl" rotWithShape="0">
              <a:srgbClr val="1B2A4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!!Shape_37">
            <a:extLst>
              <a:ext uri="{FF2B5EF4-FFF2-40B4-BE49-F238E27FC236}">
                <a16:creationId xmlns:a16="http://schemas.microsoft.com/office/drawing/2014/main" id="{3BE34AA6-94AF-4D91-8743-9354B80FD8E8}"/>
              </a:ext>
            </a:extLst>
          </p:cNvPr>
          <p:cNvSpPr>
            <a:spLocks noGrp="1"/>
          </p:cNvSpPr>
          <p:nvPr/>
        </p:nvSpPr>
        <p:spPr>
          <a:xfrm>
            <a:off x="8595360" y="50749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5B6474"/>
          </a:solidFill>
        </p:spPr>
        <p:txBody>
          <a:bodyPr/>
          <a:lstStyle/>
          <a:p>
            <a:endParaRPr/>
          </a:p>
        </p:txBody>
      </p:sp>
      <p:sp>
        <p:nvSpPr>
          <p:cNvPr id="40" name="!!s13_Text_38">
            <a:extLst>
              <a:ext uri="{FF2B5EF4-FFF2-40B4-BE49-F238E27FC236}">
                <a16:creationId xmlns:a16="http://schemas.microsoft.com/office/drawing/2014/main" id="{424B8AEA-26B7-451B-911E-5D2FF3864D45}"/>
              </a:ext>
            </a:extLst>
          </p:cNvPr>
          <p:cNvSpPr>
            <a:spLocks noGrp="1"/>
          </p:cNvSpPr>
          <p:nvPr/>
        </p:nvSpPr>
        <p:spPr>
          <a:xfrm>
            <a:off x="8595360" y="50749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  <a:endParaRPr sz="1600"/>
          </a:p>
        </p:txBody>
      </p:sp>
      <p:sp>
        <p:nvSpPr>
          <p:cNvPr id="41" name="!!s13_Text_39">
            <a:extLst>
              <a:ext uri="{FF2B5EF4-FFF2-40B4-BE49-F238E27FC236}">
                <a16:creationId xmlns:a16="http://schemas.microsoft.com/office/drawing/2014/main" id="{09BF1020-8718-48BB-8F6E-2CC4BAD32566}"/>
              </a:ext>
            </a:extLst>
          </p:cNvPr>
          <p:cNvSpPr>
            <a:spLocks noGrp="1"/>
          </p:cNvSpPr>
          <p:nvPr/>
        </p:nvSpPr>
        <p:spPr>
          <a:xfrm>
            <a:off x="9326880" y="496519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1F27"/>
                </a:solidFill>
                <a:latin typeface="Microsoft YaHei"/>
                <a:ea typeface="Microsoft YaHei"/>
                <a:cs typeface="Microsoft YaHei"/>
              </a:rPr>
              <a:t>发布到插件市场</a:t>
            </a:r>
            <a:endParaRPr sz="1450"/>
          </a:p>
        </p:txBody>
      </p:sp>
      <p:sp>
        <p:nvSpPr>
          <p:cNvPr id="42" name="!!s13_Text_40">
            <a:extLst>
              <a:ext uri="{FF2B5EF4-FFF2-40B4-BE49-F238E27FC236}">
                <a16:creationId xmlns:a16="http://schemas.microsoft.com/office/drawing/2014/main" id="{E1454173-58E6-456C-BDC4-87C6907F14C1}"/>
              </a:ext>
            </a:extLst>
          </p:cNvPr>
          <p:cNvSpPr>
            <a:spLocks noGrp="1"/>
          </p:cNvSpPr>
          <p:nvPr/>
        </p:nvSpPr>
        <p:spPr>
          <a:xfrm>
            <a:off x="9326880" y="5349240"/>
            <a:ext cx="20574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>
                <a:solidFill>
                  <a:srgbClr val="5B6474"/>
                </a:solidFill>
                <a:latin typeface="Microsoft YaHei"/>
                <a:ea typeface="Microsoft YaHei"/>
                <a:cs typeface="Microsoft YaHei"/>
              </a:rPr>
              <a:t>上传版本，用户一键安装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867935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 advTm="5360">
        <p159:morph option="byObject"/>
      </p:transition>
    </mc:Choice>
    <mc:Fallback>
      <p:transition spd="slow" advTm="536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CCABAE5-CD20-4430-A765-8936C9CAE7B1}"/>
              </a:ext>
            </a:extLst>
          </p:cNvPr>
          <p:cNvSpPr>
            <a:spLocks noGrp="1"/>
          </p:cNvSpPr>
          <p:nvPr/>
        </p:nvSpPr>
        <p:spPr>
          <a:xfrm>
            <a:off x="7863840" y="-2011680"/>
            <a:ext cx="5943600" cy="5943600"/>
          </a:xfrm>
          <a:prstGeom prst="ellipse">
            <a:avLst/>
          </a:prstGeom>
          <a:solidFill>
            <a:srgbClr val="4CC2FF">
              <a:alpha val="14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24A597F-C656-49D7-B407-721AD621AC52}"/>
              </a:ext>
            </a:extLst>
          </p:cNvPr>
          <p:cNvSpPr>
            <a:spLocks noGrp="1"/>
          </p:cNvSpPr>
          <p:nvPr/>
        </p:nvSpPr>
        <p:spPr>
          <a:xfrm>
            <a:off x="-2194560" y="4023360"/>
            <a:ext cx="5029200" cy="5029200"/>
          </a:xfrm>
          <a:prstGeom prst="ellipse">
            <a:avLst/>
          </a:prstGeom>
          <a:solidFill>
            <a:srgbClr val="8A5CF6">
              <a:alpha val="8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61E2E8-CAFA-4F33-A1E5-EF81E0B7D449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spc="300">
                <a:solidFill>
                  <a:srgbClr val="0064FA"/>
                </a:solidFill>
                <a:latin typeface="Microsoft YaHei"/>
                <a:ea typeface="Microsoft YaHei"/>
                <a:cs typeface="Microsoft YaHei"/>
              </a:rPr>
              <a:t>GET STARTED</a:t>
            </a:r>
            <a:endParaRPr sz="1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7D0C111-5ADD-413D-B543-AFB600378939}"/>
              </a:ext>
            </a:extLst>
          </p:cNvPr>
          <p:cNvSpPr>
            <a:spLocks noGrp="1"/>
          </p:cNvSpPr>
          <p:nvPr/>
        </p:nvSpPr>
        <p:spPr>
          <a:xfrm>
            <a:off x="731520" y="86868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Kitopia 1.0.0 正式版，现已发布</a:t>
            </a:r>
            <a:endParaRPr sz="3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E17D3A8-3BF3-4CA7-926D-E6E0FD25A1A6}"/>
              </a:ext>
            </a:extLst>
          </p:cNvPr>
          <p:cNvSpPr>
            <a:spLocks noGrp="1"/>
          </p:cNvSpPr>
          <p:nvPr/>
        </p:nvSpPr>
        <p:spPr>
          <a:xfrm>
            <a:off x="1097280" y="2514600"/>
            <a:ext cx="9966960" cy="0"/>
          </a:xfrm>
          <a:prstGeom prst="line">
            <a:avLst/>
          </a:prstGeom>
          <a:noFill/>
          <a:ln w="25400">
            <a:solidFill>
              <a:srgbClr val="D5DB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D4A4A52-4F8F-4FB0-BCFF-6A6B3B146BC3}"/>
              </a:ext>
            </a:extLst>
          </p:cNvPr>
          <p:cNvSpPr>
            <a:spLocks noGrp="1"/>
          </p:cNvSpPr>
          <p:nvPr/>
        </p:nvSpPr>
        <p:spPr>
          <a:xfrm>
            <a:off x="969264" y="2386584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64F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B160F06-FC15-465A-A1A5-4B1437BB5993}"/>
              </a:ext>
            </a:extLst>
          </p:cNvPr>
          <p:cNvSpPr>
            <a:spLocks noGrp="1"/>
          </p:cNvSpPr>
          <p:nvPr/>
        </p:nvSpPr>
        <p:spPr>
          <a:xfrm>
            <a:off x="182880" y="18288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0.3.7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8AEE83D-1760-44E7-A7CD-3EAE89380114}"/>
              </a:ext>
            </a:extLst>
          </p:cNvPr>
          <p:cNvSpPr>
            <a:spLocks noGrp="1"/>
          </p:cNvSpPr>
          <p:nvPr/>
        </p:nvSpPr>
        <p:spPr>
          <a:xfrm>
            <a:off x="45720" y="27889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插件市场 &amp; 情景市场</a:t>
            </a:r>
            <a:endParaRPr sz="11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7DF1CEF-0990-4296-8B72-65C5FD35F8A6}"/>
              </a:ext>
            </a:extLst>
          </p:cNvPr>
          <p:cNvSpPr>
            <a:spLocks noGrp="1"/>
          </p:cNvSpPr>
          <p:nvPr/>
        </p:nvSpPr>
        <p:spPr>
          <a:xfrm>
            <a:off x="3461004" y="2386584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64F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4DEFAEA-1ACD-4FBA-83E3-6D8690DBB1EF}"/>
              </a:ext>
            </a:extLst>
          </p:cNvPr>
          <p:cNvSpPr>
            <a:spLocks noGrp="1"/>
          </p:cNvSpPr>
          <p:nvPr/>
        </p:nvSpPr>
        <p:spPr>
          <a:xfrm>
            <a:off x="2674620" y="18288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0.3.8</a:t>
            </a:r>
            <a:endParaRPr sz="16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454D563-BF1E-4268-901A-648CED799162}"/>
              </a:ext>
            </a:extLst>
          </p:cNvPr>
          <p:cNvSpPr>
            <a:spLocks noGrp="1"/>
          </p:cNvSpPr>
          <p:nvPr/>
        </p:nvSpPr>
        <p:spPr>
          <a:xfrm>
            <a:off x="2537460" y="27889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多语言 &amp; 主题色</a:t>
            </a:r>
            <a:endParaRPr sz="11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F245805-B0AB-48AA-B5A9-E602F4F23C7F}"/>
              </a:ext>
            </a:extLst>
          </p:cNvPr>
          <p:cNvSpPr>
            <a:spLocks noGrp="1"/>
          </p:cNvSpPr>
          <p:nvPr/>
        </p:nvSpPr>
        <p:spPr>
          <a:xfrm>
            <a:off x="5952744" y="2386584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64F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D99F9E4-B6E7-4339-A5CC-9B256211DC56}"/>
              </a:ext>
            </a:extLst>
          </p:cNvPr>
          <p:cNvSpPr>
            <a:spLocks noGrp="1"/>
          </p:cNvSpPr>
          <p:nvPr/>
        </p:nvSpPr>
        <p:spPr>
          <a:xfrm>
            <a:off x="5166360" y="18288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0.4.0</a:t>
            </a:r>
            <a:endParaRPr sz="16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44C70D7-5DB8-44D1-8AE0-A792B78797DE}"/>
              </a:ext>
            </a:extLst>
          </p:cNvPr>
          <p:cNvSpPr>
            <a:spLocks noGrp="1"/>
          </p:cNvSpPr>
          <p:nvPr/>
        </p:nvSpPr>
        <p:spPr>
          <a:xfrm>
            <a:off x="5029200" y="27889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划词翻译 &amp; 图像压缩</a:t>
            </a:r>
            <a:endParaRPr sz="11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F7F49D9-EDA0-4E71-B594-2913B2ED6522}"/>
              </a:ext>
            </a:extLst>
          </p:cNvPr>
          <p:cNvSpPr>
            <a:spLocks noGrp="1"/>
          </p:cNvSpPr>
          <p:nvPr/>
        </p:nvSpPr>
        <p:spPr>
          <a:xfrm>
            <a:off x="8444484" y="2386584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64F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6C2B309-F7C1-45E2-AB1C-B168D6EF0AFE}"/>
              </a:ext>
            </a:extLst>
          </p:cNvPr>
          <p:cNvSpPr>
            <a:spLocks noGrp="1"/>
          </p:cNvSpPr>
          <p:nvPr/>
        </p:nvSpPr>
        <p:spPr>
          <a:xfrm>
            <a:off x="7658100" y="18288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0.4.1</a:t>
            </a:r>
            <a:endParaRPr sz="16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8FBDB3D-98FF-4936-A2A9-87A281C7858D}"/>
              </a:ext>
            </a:extLst>
          </p:cNvPr>
          <p:cNvSpPr>
            <a:spLocks noGrp="1"/>
          </p:cNvSpPr>
          <p:nvPr/>
        </p:nvSpPr>
        <p:spPr>
          <a:xfrm>
            <a:off x="7520940" y="27889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通知中心 &amp; 文件传输优化</a:t>
            </a:r>
            <a:endParaRPr sz="115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BA92DE4-694C-4D26-A188-2BF525164F21}"/>
              </a:ext>
            </a:extLst>
          </p:cNvPr>
          <p:cNvSpPr>
            <a:spLocks noGrp="1"/>
          </p:cNvSpPr>
          <p:nvPr/>
        </p:nvSpPr>
        <p:spPr>
          <a:xfrm>
            <a:off x="10936224" y="2386584"/>
            <a:ext cx="256032" cy="256032"/>
          </a:xfrm>
          <a:prstGeom prst="ellipse">
            <a:avLst/>
          </a:prstGeom>
          <a:solidFill>
            <a:srgbClr val="0064FA"/>
          </a:solidFill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B113E44-01E0-42A4-9987-0758B3923222}"/>
              </a:ext>
            </a:extLst>
          </p:cNvPr>
          <p:cNvSpPr>
            <a:spLocks noGrp="1"/>
          </p:cNvSpPr>
          <p:nvPr/>
        </p:nvSpPr>
        <p:spPr>
          <a:xfrm>
            <a:off x="10149840" y="18288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0064FA"/>
                </a:solidFill>
                <a:latin typeface="Segoe UI"/>
                <a:ea typeface="Segoe UI"/>
                <a:cs typeface="Segoe UI"/>
              </a:rPr>
              <a:t>1.0.0</a:t>
            </a:r>
            <a:endParaRPr sz="16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8481BA6-CA7E-447C-8041-CC5C9138D708}"/>
              </a:ext>
            </a:extLst>
          </p:cNvPr>
          <p:cNvSpPr>
            <a:spLocks noGrp="1"/>
          </p:cNvSpPr>
          <p:nvPr/>
        </p:nvSpPr>
        <p:spPr>
          <a:xfrm>
            <a:off x="10012680" y="27889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15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正式版发布</a:t>
            </a:r>
            <a:endParaRPr sz="115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0C44996-E7E6-45ED-8A27-9CE22BFA7431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06BAD45-8144-409B-93DD-C2D6596CCA6D}"/>
              </a:ext>
            </a:extLst>
          </p:cNvPr>
          <p:cNvSpPr>
            <a:spLocks noGrp="1"/>
          </p:cNvSpPr>
          <p:nvPr/>
        </p:nvSpPr>
        <p:spPr>
          <a:xfrm>
            <a:off x="960120" y="402336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1,300+</a:t>
            </a:r>
            <a:endParaRPr sz="22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10CFD03-3970-45D8-866E-C8A993580F43}"/>
              </a:ext>
            </a:extLst>
          </p:cNvPr>
          <p:cNvSpPr>
            <a:spLocks noGrp="1"/>
          </p:cNvSpPr>
          <p:nvPr/>
        </p:nvSpPr>
        <p:spPr>
          <a:xfrm>
            <a:off x="960120" y="4617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Commits 持续迭代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B83FF90-9E0F-4D80-BA55-090304B12DC0}"/>
              </a:ext>
            </a:extLst>
          </p:cNvPr>
          <p:cNvSpPr>
            <a:spLocks noGrp="1"/>
          </p:cNvSpPr>
          <p:nvPr/>
        </p:nvSpPr>
        <p:spPr>
          <a:xfrm>
            <a:off x="3246120" y="384048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B45083AC-EFB7-4361-9C97-A0FD7ABC47ED}"/>
              </a:ext>
            </a:extLst>
          </p:cNvPr>
          <p:cNvSpPr>
            <a:spLocks noGrp="1"/>
          </p:cNvSpPr>
          <p:nvPr/>
        </p:nvSpPr>
        <p:spPr>
          <a:xfrm>
            <a:off x="3474720" y="402336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x64 / ARM64</a:t>
            </a:r>
            <a:endParaRPr sz="22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A730FBB-D6AB-48CE-99BF-A8AFB4C54ADA}"/>
              </a:ext>
            </a:extLst>
          </p:cNvPr>
          <p:cNvSpPr>
            <a:spLocks noGrp="1"/>
          </p:cNvSpPr>
          <p:nvPr/>
        </p:nvSpPr>
        <p:spPr>
          <a:xfrm>
            <a:off x="3474720" y="4617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Windows 安装包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4C164ED-B9BD-4732-B440-92799E7539D8}"/>
              </a:ext>
            </a:extLst>
          </p:cNvPr>
          <p:cNvSpPr>
            <a:spLocks noGrp="1"/>
          </p:cNvSpPr>
          <p:nvPr/>
        </p:nvSpPr>
        <p:spPr>
          <a:xfrm>
            <a:off x="5760720" y="384048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6CCB328-752D-48C3-9B3A-F8035EDEC003}"/>
              </a:ext>
            </a:extLst>
          </p:cNvPr>
          <p:cNvSpPr>
            <a:spLocks noGrp="1"/>
          </p:cNvSpPr>
          <p:nvPr/>
        </p:nvSpPr>
        <p:spPr>
          <a:xfrm>
            <a:off x="5989320" y="402336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Avalonia</a:t>
            </a:r>
            <a:endParaRPr sz="22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8389D1D-F8A4-4178-8CB4-AF06E09017D1}"/>
              </a:ext>
            </a:extLst>
          </p:cNvPr>
          <p:cNvSpPr>
            <a:spLocks noGrp="1"/>
          </p:cNvSpPr>
          <p:nvPr/>
        </p:nvSpPr>
        <p:spPr>
          <a:xfrm>
            <a:off x="5989320" y="4617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跨平台 .NET UI</a:t>
            </a:r>
            <a:endParaRPr sz="12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A9005CD-C8F8-4B46-9F09-1D650AFAAAA9}"/>
              </a:ext>
            </a:extLst>
          </p:cNvPr>
          <p:cNvSpPr>
            <a:spLocks noGrp="1"/>
          </p:cNvSpPr>
          <p:nvPr/>
        </p:nvSpPr>
        <p:spPr>
          <a:xfrm>
            <a:off x="8321040" y="3840480"/>
            <a:ext cx="3154680" cy="1463040"/>
          </a:xfrm>
          <a:prstGeom prst="roundRect">
            <a:avLst>
              <a:gd name="adj" fmla="val 7500"/>
            </a:avLst>
          </a:prstGeom>
          <a:solidFill>
            <a:srgbClr val="0064FA"/>
          </a:solidFill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8466A0DC-1EDE-4198-907A-6C2D6EC6D7CD}"/>
              </a:ext>
            </a:extLst>
          </p:cNvPr>
          <p:cNvSpPr>
            <a:spLocks noGrp="1"/>
          </p:cNvSpPr>
          <p:nvPr/>
        </p:nvSpPr>
        <p:spPr>
          <a:xfrm>
            <a:off x="8595360" y="400507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立即下载</a:t>
            </a:r>
            <a:endParaRPr sz="20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C1BE63B3-DFC4-41B9-8D3A-5BEA31E3A7AD}"/>
              </a:ext>
            </a:extLst>
          </p:cNvPr>
          <p:cNvSpPr>
            <a:spLocks noGrp="1"/>
          </p:cNvSpPr>
          <p:nvPr/>
        </p:nvSpPr>
        <p:spPr>
          <a:xfrm>
            <a:off x="8595360" y="4480560"/>
            <a:ext cx="278892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E8F1FB"/>
                </a:solidFill>
                <a:latin typeface="Segoe UI"/>
                <a:ea typeface="Segoe UI"/>
                <a:cs typeface="Segoe UI"/>
              </a:rPr>
              <a:t>GitHub Releases</a:t>
            </a:r>
            <a:endParaRPr sz="1150"/>
          </a:p>
          <a:p>
            <a:pPr marL="0" indent="0">
              <a:buNone/>
            </a:pPr>
            <a:r>
              <a:rPr sz="1150">
                <a:solidFill>
                  <a:srgbClr val="E8F1FB"/>
                </a:solidFill>
                <a:latin typeface="Segoe UI"/>
                <a:ea typeface="Segoe UI"/>
                <a:cs typeface="Segoe UI"/>
              </a:rPr>
              <a:t>github.com/Maklith/Kitopia</a:t>
            </a:r>
            <a:endParaRPr sz="11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5806CEFA-51F8-4BF2-977A-08C5AD4F8496}"/>
              </a:ext>
            </a:extLst>
          </p:cNvPr>
          <p:cNvSpPr>
            <a:spLocks noGrp="1"/>
          </p:cNvSpPr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dirty="0" err="1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rPr>
              <a:t>欢迎</a:t>
            </a:r>
            <a:r>
              <a:rPr sz="1200" dirty="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200" dirty="0" err="1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rPr>
              <a:t>Star、Issue</a:t>
            </a:r>
            <a:r>
              <a:rPr sz="1200" dirty="0">
                <a:solidFill>
                  <a:srgbClr val="9CA3AF"/>
                </a:solidFill>
                <a:latin typeface="Microsoft YaHei"/>
                <a:ea typeface="Microsoft YaHei"/>
                <a:cs typeface="Microsoft YaHei"/>
              </a:rPr>
              <a:t> 与 PR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457866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Tm="4820">
        <p:fade/>
      </p:transition>
    </mc:Choice>
    <mc:Fallback>
      <p:transition advTm="482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6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36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2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616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72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28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84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952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08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 fill="hold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76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232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 fill="hold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288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344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56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 fill="hold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512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 fill="hold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568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 fill="hold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24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736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 fill="hold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792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 fill="hold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1117</Words>
  <Application>Microsoft Office PowerPoint</Application>
  <DocSecurity>0</DocSecurity>
  <PresentationFormat>宽屏</PresentationFormat>
  <Paragraphs>247</Paragraphs>
  <Slides>14</Slides>
  <Notes>14</Notes>
  <HiddenSlides>0</HiddenSlides>
  <MMClips>1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Microsoft YaHei</vt:lpstr>
      <vt:lpstr>Arial</vt:lpstr>
      <vt:lpstr>Calibri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Luiz Otávio Dias</cp:lastModifiedBy>
  <cp:revision>2</cp:revision>
  <dcterms:created xsi:type="dcterms:W3CDTF">2026-10-16T06:11:48Z</dcterms:created>
  <dcterms:modified xsi:type="dcterms:W3CDTF">2026-10-16T09:24:48Z</dcterms:modified>
</cp:coreProperties>
</file>